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F0BED-7D08-AE4E-EECD-F345808A4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93B8D0-E788-8A82-6B11-0CC2789B33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D596D-97E7-CDA7-F8F9-E38AC567E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F3D0A-8132-4140-8D38-AE854045B650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6BDEC-7BBB-F24C-44A7-F0E7A6FE1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4EE7F-E5F8-BAED-04F9-FE305A30A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DA2-F43A-4C4B-BE77-764F59780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137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F95C4-D987-3535-0513-E3B30524F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174C2-C54E-A7AC-D621-DFD05A6FD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44F14-CD1E-E422-CB6E-E12A39D3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F3D0A-8132-4140-8D38-AE854045B650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05E19-C6DE-A7EA-B7DD-61DE584F5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F4AD0-0F81-B2BF-CAD4-2BE6A1249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DA2-F43A-4C4B-BE77-764F59780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253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95238-9F42-D3DB-AD7D-B96DF870C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AD8AA-79B0-AB1D-C6DB-AA2ABD5D6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6D771-7F30-B2AF-B0FC-2F8E94CD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F3D0A-8132-4140-8D38-AE854045B650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A079F-BFB3-651C-7515-9D27D1844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3843A-9EC4-5DE2-2DA3-E2AAFD19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DA2-F43A-4C4B-BE77-764F59780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992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DD07F-3346-6CD6-E273-24A11DFFB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6879C-78B5-B778-452A-B75A59A3D0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AA4788-B8F1-81F5-416E-86B1388E1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BE17A-FFCF-B3D8-68BE-B05BF01EC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F3D0A-8132-4140-8D38-AE854045B650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2C247-1219-9255-D389-CD89827BF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12677B-A074-1AB5-D35D-05D6D3D2F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DA2-F43A-4C4B-BE77-764F59780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530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16761-97A2-522C-B9CA-23FDBCE1C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8456C-FBAB-82A9-D6CF-6A2B352B9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D36F9-3E32-C28C-A8B9-88DAF16B3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27E8BF-59ED-5CCB-6457-452837E515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2D96C1-4767-E846-7DAF-43E8C98CD6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62B07-7A9E-5DCB-C3B4-7AD28A020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F3D0A-8132-4140-8D38-AE854045B650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D203F-7737-B702-70A7-3407BDAD5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6F6117-C39D-F846-0D2E-3D116BA41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DA2-F43A-4C4B-BE77-764F59780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543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C133A-7BA4-8A5B-5677-348289816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BB75B8-7F52-B45A-D298-B2BE79ECE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F3D0A-8132-4140-8D38-AE854045B650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2CC1D6-2219-A1D7-0725-2F0DB9B0C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CC09BC-AEEA-8B39-31F8-7A315990E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DA2-F43A-4C4B-BE77-764F59780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257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972D62-895F-20D0-1CFB-1C94A1EBD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F3D0A-8132-4140-8D38-AE854045B650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6C12F8-DA2D-F5E4-C3CB-1CD792AE9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37C24-93D9-2B67-42D8-121D3EDD2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DA2-F43A-4C4B-BE77-764F59780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846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86221-6469-0C52-EF30-04702528E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A9B61-7E74-7951-337C-3F135FFE7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FE8F36-C2E1-36C3-0BB6-048AAAF5ED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B4A73-5988-3B62-0609-761F69932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F3D0A-8132-4140-8D38-AE854045B650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5824DA-8D7F-4E20-0717-1EC047B33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FD0C7E-EF09-2E8C-82BE-065BF0204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DA2-F43A-4C4B-BE77-764F59780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109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EAAC3-A7DF-2506-56F7-477C66C43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DD43BD-BF89-5F7B-9E4C-3034A59278F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A3A3E0-4D0A-3A69-5D23-EAFB393AB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87E47-FEED-1FDF-9CFF-BBDA169E2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F3D0A-8132-4140-8D38-AE854045B650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AF032-DD9C-9D2F-1385-EEE034E02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3EF83-4565-A5B6-A701-C43EAF04D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DA2-F43A-4C4B-BE77-764F59780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488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6E1CA-C29B-DAA3-1178-31DB166BF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E8D7FA-AD2B-7444-E708-56B890CD0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D91CD-3750-D728-9833-228B97F5D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F3D0A-8132-4140-8D38-AE854045B650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5ED84-AFA9-BA15-D82A-BD2335803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3C98E-92EE-05BF-9770-B6C943A8F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DA2-F43A-4C4B-BE77-764F59780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976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359A06-C6F6-0947-1512-3A15504122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23E5F-534E-9AB8-E0F1-7D12DF3A0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73F59-E059-FDA2-0B62-580A99D06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F3D0A-8132-4140-8D38-AE854045B650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86175-A72B-6073-ECB9-B82871ED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4ABD5-C2FC-1682-0EB5-7D5E0C7C2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DA2-F43A-4C4B-BE77-764F59780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0767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A443FF-0A55-75BE-78D5-2117960EE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EB1E7-8554-AC9B-1E68-A80660B53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D2A7A-256D-A7AD-9E4A-8DB0EB965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0F3D0A-8132-4140-8D38-AE854045B650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19A06-1077-B7CE-C817-21EB0F75C0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A98F5-E899-EE8D-03B4-F14E2B9FE7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D1CDA2-F43A-4C4B-BE77-764F59780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84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AF0F6"/>
                </a:solidFill>
                <a:latin typeface="Calibri"/>
              </a:rPr>
              <a:t>Lighting Module — PCB Arrangement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FB0C3"/>
                </a:solidFill>
                <a:latin typeface="Calibri"/>
              </a:rPr>
              <a:t>Two interlocking head-lamp PCBs frame a central logo PCB inside the lamp housing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4208754" cy="5007071"/>
          </a:xfrm>
          <a:prstGeom prst="roundRect">
            <a:avLst>
              <a:gd name="adj" fmla="val 3000"/>
            </a:avLst>
          </a:prstGeom>
          <a:solidFill>
            <a:srgbClr val="15202C"/>
          </a:solidFill>
          <a:ln w="19050">
            <a:solidFill>
              <a:srgbClr val="5B718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825416" y="1632204"/>
            <a:ext cx="2882280" cy="3814373"/>
          </a:xfrm>
          <a:custGeom>
            <a:avLst/>
            <a:gdLst/>
            <a:ahLst/>
            <a:cxnLst/>
            <a:rect l="l" t="t" r="r" b="b"/>
            <a:pathLst>
              <a:path w="2882280" h="3814373">
                <a:moveTo>
                  <a:pt x="0" y="0"/>
                </a:moveTo>
                <a:lnTo>
                  <a:pt x="2882280" y="0"/>
                </a:lnTo>
                <a:lnTo>
                  <a:pt x="2882280" y="3814373"/>
                </a:lnTo>
                <a:lnTo>
                  <a:pt x="0" y="3814373"/>
                </a:lnTo>
                <a:lnTo>
                  <a:pt x="0" y="3356579"/>
                </a:lnTo>
                <a:lnTo>
                  <a:pt x="2424486" y="3356579"/>
                </a:lnTo>
                <a:lnTo>
                  <a:pt x="2424486" y="458663"/>
                </a:lnTo>
                <a:lnTo>
                  <a:pt x="0" y="458663"/>
                </a:lnTo>
                <a:close/>
              </a:path>
            </a:pathLst>
          </a:custGeom>
          <a:solidFill>
            <a:srgbClr val="1E5C3F"/>
          </a:solidFill>
          <a:ln w="15875">
            <a:solidFill>
              <a:srgbClr val="3FA4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170432" y="2264603"/>
            <a:ext cx="2882280" cy="3813505"/>
          </a:xfrm>
          <a:custGeom>
            <a:avLst/>
            <a:gdLst/>
            <a:ahLst/>
            <a:cxnLst/>
            <a:rect l="l" t="t" r="r" b="b"/>
            <a:pathLst>
              <a:path w="2882280" h="3813505">
                <a:moveTo>
                  <a:pt x="0" y="0"/>
                </a:moveTo>
                <a:lnTo>
                  <a:pt x="2882280" y="0"/>
                </a:lnTo>
                <a:lnTo>
                  <a:pt x="2882280" y="457794"/>
                </a:lnTo>
                <a:lnTo>
                  <a:pt x="457794" y="457794"/>
                </a:lnTo>
                <a:lnTo>
                  <a:pt x="457794" y="3355710"/>
                </a:lnTo>
                <a:lnTo>
                  <a:pt x="2882280" y="3355710"/>
                </a:lnTo>
                <a:lnTo>
                  <a:pt x="2882280" y="3813505"/>
                </a:lnTo>
                <a:lnTo>
                  <a:pt x="0" y="3813505"/>
                </a:lnTo>
                <a:close/>
              </a:path>
            </a:pathLst>
          </a:custGeom>
          <a:solidFill>
            <a:srgbClr val="1E5C3F"/>
          </a:solidFill>
          <a:ln w="15875">
            <a:solidFill>
              <a:srgbClr val="3FA4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5416" y="2872679"/>
            <a:ext cx="2227295" cy="1973640"/>
          </a:xfrm>
          <a:prstGeom prst="rect">
            <a:avLst/>
          </a:prstGeom>
          <a:solidFill>
            <a:srgbClr val="234B78"/>
          </a:solidFill>
          <a:ln w="19050">
            <a:solidFill>
              <a:srgbClr val="5C8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5416" y="2872679"/>
            <a:ext cx="2227295" cy="1973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AF0F6"/>
                </a:solidFill>
                <a:latin typeface="Calibri"/>
              </a:rPr>
              <a:t>LOGO PCB</a:t>
            </a:r>
          </a:p>
        </p:txBody>
      </p:sp>
      <p:sp>
        <p:nvSpPr>
          <p:cNvPr id="9" name="TextBox 8"/>
          <p:cNvSpPr txBox="1"/>
          <p:nvPr/>
        </p:nvSpPr>
        <p:spPr>
          <a:xfrm rot="5400000">
            <a:off x="3290079" y="335433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EAF0F6"/>
                </a:solidFill>
                <a:latin typeface="Calibri"/>
              </a:rPr>
              <a:t>HEAD LAMP PCB</a:t>
            </a:r>
          </a:p>
        </p:txBody>
      </p:sp>
      <p:sp>
        <p:nvSpPr>
          <p:cNvPr id="10" name="TextBox 9"/>
          <p:cNvSpPr txBox="1"/>
          <p:nvPr/>
        </p:nvSpPr>
        <p:spPr>
          <a:xfrm rot="16200000">
            <a:off x="210609" y="3988475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EAF0F6"/>
                </a:solidFill>
                <a:latin typeface="Calibri"/>
              </a:rPr>
              <a:t>HEAD LAMP PCB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603119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9FB0C3"/>
                </a:solidFill>
                <a:latin typeface="Calibri"/>
              </a:rPr>
              <a:t>Lamp housing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371600"/>
            <a:ext cx="5925312" cy="5010912"/>
          </a:xfrm>
          <a:prstGeom prst="roundRect">
            <a:avLst>
              <a:gd name="adj" fmla="val 4000"/>
            </a:avLst>
          </a:prstGeom>
          <a:solidFill>
            <a:srgbClr val="172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72200" y="1783080"/>
            <a:ext cx="411480" cy="411480"/>
          </a:xfrm>
          <a:prstGeom prst="ellipse">
            <a:avLst/>
          </a:prstGeom>
          <a:solidFill>
            <a:srgbClr val="1E5C3F"/>
          </a:solidFill>
          <a:ln w="25400">
            <a:solidFill>
              <a:srgbClr val="3FA4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79" y="1737360"/>
            <a:ext cx="45537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AF0F6"/>
                </a:solidFill>
                <a:latin typeface="Calibri"/>
              </a:rPr>
              <a:t>Head Lamp PCB  ×2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79" y="2084831"/>
            <a:ext cx="45537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B0C3"/>
                </a:solidFill>
                <a:latin typeface="Calibri"/>
              </a:rPr>
              <a:t>Two C-shaped boards interleave around the centre. Each wraps three sides, so together they trace a continuous light contour.</a:t>
            </a:r>
          </a:p>
        </p:txBody>
      </p:sp>
      <p:sp>
        <p:nvSpPr>
          <p:cNvPr id="16" name="Oval 15"/>
          <p:cNvSpPr/>
          <p:nvPr/>
        </p:nvSpPr>
        <p:spPr>
          <a:xfrm>
            <a:off x="6172200" y="2971800"/>
            <a:ext cx="411480" cy="411480"/>
          </a:xfrm>
          <a:prstGeom prst="ellipse">
            <a:avLst/>
          </a:prstGeom>
          <a:solidFill>
            <a:srgbClr val="234B78"/>
          </a:solidFill>
          <a:ln w="25400">
            <a:solidFill>
              <a:srgbClr val="5C8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79" y="2926080"/>
            <a:ext cx="45537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AF0F6"/>
                </a:solidFill>
                <a:latin typeface="Calibri"/>
              </a:rPr>
              <a:t>Logo PCB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79" y="3273552"/>
            <a:ext cx="45537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B0C3"/>
                </a:solidFill>
                <a:latin typeface="Calibri"/>
              </a:rPr>
              <a:t>Central board dedicated to the illuminated logo, set off from both head-lamp boards by a uniform clearance gap.</a:t>
            </a:r>
          </a:p>
        </p:txBody>
      </p:sp>
      <p:sp>
        <p:nvSpPr>
          <p:cNvPr id="19" name="Oval 18"/>
          <p:cNvSpPr/>
          <p:nvPr/>
        </p:nvSpPr>
        <p:spPr>
          <a:xfrm>
            <a:off x="6172200" y="4160520"/>
            <a:ext cx="411480" cy="411480"/>
          </a:xfrm>
          <a:prstGeom prst="ellipse">
            <a:avLst/>
          </a:prstGeom>
          <a:solidFill>
            <a:srgbClr val="15202C"/>
          </a:solidFill>
          <a:ln w="25400">
            <a:solidFill>
              <a:srgbClr val="5B718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79" y="4114800"/>
            <a:ext cx="45537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AF0F6"/>
                </a:solidFill>
                <a:latin typeface="Calibri"/>
              </a:rPr>
              <a:t>Lamp housing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79" y="4462272"/>
            <a:ext cx="45537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B0C3"/>
                </a:solidFill>
                <a:latin typeface="Calibri"/>
              </a:rPr>
              <a:t>The outer frame nests all three boards with even clearance for assembly tolerance and thermal expansion.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5321807"/>
            <a:ext cx="5193792" cy="868680"/>
          </a:xfrm>
          <a:prstGeom prst="roundRect">
            <a:avLst>
              <a:gd name="adj" fmla="val 12000"/>
            </a:avLst>
          </a:prstGeom>
          <a:solidFill>
            <a:srgbClr val="1D2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79" y="5394959"/>
            <a:ext cx="482803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D34D"/>
                </a:solidFill>
                <a:latin typeface="Calibri"/>
              </a:rPr>
              <a:t>One outline, used twice.  </a:t>
            </a:r>
            <a:r>
              <a:rPr sz="1200" b="0" i="0">
                <a:solidFill>
                  <a:srgbClr val="EAF0F6"/>
                </a:solidFill>
                <a:latin typeface="Calibri"/>
              </a:rPr>
              <a:t>The two head-lamp PCBs share the same shape rotated 180°: one part number, one panel design, one stencil.</a:t>
            </a:r>
          </a:p>
        </p:txBody>
      </p:sp>
    </p:spTree>
    <p:extLst>
      <p:ext uri="{BB962C8B-B14F-4D97-AF65-F5344CB8AC3E}">
        <p14:creationId xmlns:p14="http://schemas.microsoft.com/office/powerpoint/2010/main" val="2436854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AF0F6"/>
                </a:solidFill>
                <a:latin typeface="Calibri"/>
              </a:rPr>
              <a:t>DRL Module — LED Layout &amp; Interconnect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FB0C3"/>
                </a:solidFill>
                <a:latin typeface="Calibri"/>
              </a:rPr>
              <a:t>Eight LEDs on each DRL PCB, with light-emission arrows rotated to each board's orientation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554480"/>
            <a:ext cx="3200400" cy="548640"/>
          </a:xfrm>
          <a:prstGeom prst="roundRect">
            <a:avLst>
              <a:gd name="adj" fmla="val 8000"/>
            </a:avLst>
          </a:prstGeom>
          <a:solidFill>
            <a:srgbClr val="1E5C3F"/>
          </a:solidFill>
          <a:ln w="15875">
            <a:solidFill>
              <a:srgbClr val="3FA4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80960" y="2103120"/>
            <a:ext cx="548640" cy="3291840"/>
          </a:xfrm>
          <a:prstGeom prst="roundRect">
            <a:avLst>
              <a:gd name="adj" fmla="val 8000"/>
            </a:avLst>
          </a:prstGeom>
          <a:solidFill>
            <a:srgbClr val="1E5C3F"/>
          </a:solidFill>
          <a:ln w="15875">
            <a:solidFill>
              <a:srgbClr val="3FA4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80560" y="5394960"/>
            <a:ext cx="3200400" cy="548640"/>
          </a:xfrm>
          <a:prstGeom prst="roundRect">
            <a:avLst>
              <a:gd name="adj" fmla="val 8000"/>
            </a:avLst>
          </a:prstGeom>
          <a:solidFill>
            <a:srgbClr val="1E5C3F"/>
          </a:solidFill>
          <a:ln w="15875">
            <a:solidFill>
              <a:srgbClr val="3FA46A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617720" y="1828800"/>
            <a:ext cx="3063240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7955280" y="2103120"/>
            <a:ext cx="0" cy="329184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4617720" y="5669280"/>
            <a:ext cx="3063240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4544568" y="1627632"/>
            <a:ext cx="91440" cy="91440"/>
          </a:xfrm>
          <a:prstGeom prst="ellipse">
            <a:avLst/>
          </a:prstGeom>
          <a:solidFill>
            <a:srgbClr val="0E1621"/>
          </a:solidFill>
          <a:ln w="12700">
            <a:solidFill>
              <a:srgbClr val="E0B25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44568" y="1938528"/>
            <a:ext cx="91440" cy="91440"/>
          </a:xfrm>
          <a:prstGeom prst="ellipse">
            <a:avLst/>
          </a:prstGeom>
          <a:solidFill>
            <a:srgbClr val="0E1621"/>
          </a:solidFill>
          <a:ln w="12700">
            <a:solidFill>
              <a:srgbClr val="E0B25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44568" y="5468112"/>
            <a:ext cx="91440" cy="91440"/>
          </a:xfrm>
          <a:prstGeom prst="ellipse">
            <a:avLst/>
          </a:prstGeom>
          <a:solidFill>
            <a:srgbClr val="0E1621"/>
          </a:solidFill>
          <a:ln w="12700">
            <a:solidFill>
              <a:srgbClr val="E0B25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44568" y="5779008"/>
            <a:ext cx="91440" cy="91440"/>
          </a:xfrm>
          <a:prstGeom prst="ellipse">
            <a:avLst/>
          </a:prstGeom>
          <a:solidFill>
            <a:srgbClr val="0E1621"/>
          </a:solidFill>
          <a:ln w="12700">
            <a:solidFill>
              <a:srgbClr val="E0B25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rc 13"/>
          <p:cNvSpPr/>
          <p:nvPr/>
        </p:nvSpPr>
        <p:spPr>
          <a:xfrm>
            <a:off x="7543800" y="1965960"/>
            <a:ext cx="274320" cy="274320"/>
          </a:xfrm>
          <a:prstGeom prst="arc">
            <a:avLst>
              <a:gd name="adj1" fmla="val 16200000"/>
              <a:gd name="adj2" fmla="val 21600000"/>
            </a:avLst>
          </a:prstGeom>
          <a:noFill/>
          <a:ln w="28575">
            <a:solidFill>
              <a:srgbClr val="D982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rc 14"/>
          <p:cNvSpPr/>
          <p:nvPr/>
        </p:nvSpPr>
        <p:spPr>
          <a:xfrm>
            <a:off x="7543800" y="5257800"/>
            <a:ext cx="274320" cy="274320"/>
          </a:xfrm>
          <a:prstGeom prst="arc">
            <a:avLst>
              <a:gd name="adj1" fmla="val 0"/>
              <a:gd name="adj2" fmla="val 5400000"/>
            </a:avLst>
          </a:prstGeom>
          <a:noFill/>
          <a:ln w="28575">
            <a:solidFill>
              <a:srgbClr val="D982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rc 15"/>
          <p:cNvSpPr/>
          <p:nvPr/>
        </p:nvSpPr>
        <p:spPr>
          <a:xfrm>
            <a:off x="7406640" y="1828799"/>
            <a:ext cx="548640" cy="548640"/>
          </a:xfrm>
          <a:prstGeom prst="arc">
            <a:avLst>
              <a:gd name="adj1" fmla="val 16200000"/>
              <a:gd name="adj2" fmla="val 21600000"/>
            </a:avLst>
          </a:prstGeom>
          <a:noFill/>
          <a:ln w="28575">
            <a:solidFill>
              <a:srgbClr val="D982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rc 16"/>
          <p:cNvSpPr/>
          <p:nvPr/>
        </p:nvSpPr>
        <p:spPr>
          <a:xfrm>
            <a:off x="7406640" y="5120640"/>
            <a:ext cx="548640" cy="548640"/>
          </a:xfrm>
          <a:prstGeom prst="arc">
            <a:avLst>
              <a:gd name="adj1" fmla="val 0"/>
              <a:gd name="adj2" fmla="val 5400000"/>
            </a:avLst>
          </a:prstGeom>
          <a:noFill/>
          <a:ln w="28575">
            <a:solidFill>
              <a:srgbClr val="D982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rc 17"/>
          <p:cNvSpPr/>
          <p:nvPr/>
        </p:nvSpPr>
        <p:spPr>
          <a:xfrm>
            <a:off x="7269480" y="1691639"/>
            <a:ext cx="822960" cy="822960"/>
          </a:xfrm>
          <a:prstGeom prst="arc">
            <a:avLst>
              <a:gd name="adj1" fmla="val 16200000"/>
              <a:gd name="adj2" fmla="val 21600000"/>
            </a:avLst>
          </a:prstGeom>
          <a:noFill/>
          <a:ln w="28575">
            <a:solidFill>
              <a:srgbClr val="D982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rc 18"/>
          <p:cNvSpPr/>
          <p:nvPr/>
        </p:nvSpPr>
        <p:spPr>
          <a:xfrm>
            <a:off x="7269480" y="4983480"/>
            <a:ext cx="822960" cy="822960"/>
          </a:xfrm>
          <a:prstGeom prst="arc">
            <a:avLst>
              <a:gd name="adj1" fmla="val 0"/>
              <a:gd name="adj2" fmla="val 5400000"/>
            </a:avLst>
          </a:prstGeom>
          <a:noFill/>
          <a:ln w="28575">
            <a:solidFill>
              <a:srgbClr val="D982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5400000">
            <a:off x="4700016" y="1746504"/>
            <a:ext cx="201168" cy="164592"/>
          </a:xfrm>
          <a:prstGeom prst="triangle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882896" y="1719072"/>
            <a:ext cx="0" cy="219456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750308" y="1624763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50892" y="1624763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sp>
        <p:nvSpPr>
          <p:cNvPr id="24" name="TextBox 23"/>
          <p:cNvSpPr txBox="1"/>
          <p:nvPr/>
        </p:nvSpPr>
        <p:spPr>
          <a:xfrm>
            <a:off x="4572000" y="192938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EAF0F6"/>
                </a:solidFill>
                <a:latin typeface="Calibri"/>
              </a:rPr>
              <a:t>LED1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5065776" y="1746504"/>
            <a:ext cx="201168" cy="164592"/>
          </a:xfrm>
          <a:prstGeom prst="triangle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5248656" y="1719072"/>
            <a:ext cx="0" cy="219456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5116068" y="1624763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cxnSp>
        <p:nvCxnSpPr>
          <p:cNvPr id="28" name="Connector 27"/>
          <p:cNvCxnSpPr/>
          <p:nvPr/>
        </p:nvCxnSpPr>
        <p:spPr>
          <a:xfrm flipV="1">
            <a:off x="5216652" y="1624763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sp>
        <p:nvSpPr>
          <p:cNvPr id="29" name="TextBox 28"/>
          <p:cNvSpPr txBox="1"/>
          <p:nvPr/>
        </p:nvSpPr>
        <p:spPr>
          <a:xfrm>
            <a:off x="4937760" y="192938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EAF0F6"/>
                </a:solidFill>
                <a:latin typeface="Calibri"/>
              </a:rPr>
              <a:t>LED2</a:t>
            </a:r>
          </a:p>
        </p:txBody>
      </p:sp>
      <p:sp>
        <p:nvSpPr>
          <p:cNvPr id="30" name="Isosceles Triangle 29"/>
          <p:cNvSpPr/>
          <p:nvPr/>
        </p:nvSpPr>
        <p:spPr>
          <a:xfrm rot="5400000">
            <a:off x="5431536" y="1746504"/>
            <a:ext cx="201168" cy="164592"/>
          </a:xfrm>
          <a:prstGeom prst="triangle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5614416" y="1719072"/>
            <a:ext cx="0" cy="219456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5481828" y="1624763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cxnSp>
        <p:nvCxnSpPr>
          <p:cNvPr id="33" name="Connector 32"/>
          <p:cNvCxnSpPr/>
          <p:nvPr/>
        </p:nvCxnSpPr>
        <p:spPr>
          <a:xfrm flipV="1">
            <a:off x="5582412" y="1624763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sp>
        <p:nvSpPr>
          <p:cNvPr id="34" name="TextBox 33"/>
          <p:cNvSpPr txBox="1"/>
          <p:nvPr/>
        </p:nvSpPr>
        <p:spPr>
          <a:xfrm>
            <a:off x="5303520" y="192938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EAF0F6"/>
                </a:solidFill>
                <a:latin typeface="Calibri"/>
              </a:rPr>
              <a:t>LED3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5797296" y="1746504"/>
            <a:ext cx="201168" cy="164592"/>
          </a:xfrm>
          <a:prstGeom prst="triangle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5980176" y="1719072"/>
            <a:ext cx="0" cy="219456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37" name="Connector 36"/>
          <p:cNvCxnSpPr/>
          <p:nvPr/>
        </p:nvCxnSpPr>
        <p:spPr>
          <a:xfrm flipV="1">
            <a:off x="5847588" y="1624763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cxnSp>
        <p:nvCxnSpPr>
          <p:cNvPr id="38" name="Connector 37"/>
          <p:cNvCxnSpPr/>
          <p:nvPr/>
        </p:nvCxnSpPr>
        <p:spPr>
          <a:xfrm flipV="1">
            <a:off x="5948172" y="1624763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sp>
        <p:nvSpPr>
          <p:cNvPr id="39" name="TextBox 38"/>
          <p:cNvSpPr txBox="1"/>
          <p:nvPr/>
        </p:nvSpPr>
        <p:spPr>
          <a:xfrm>
            <a:off x="5669280" y="192938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EAF0F6"/>
                </a:solidFill>
                <a:latin typeface="Calibri"/>
              </a:rPr>
              <a:t>LED4</a:t>
            </a:r>
          </a:p>
        </p:txBody>
      </p:sp>
      <p:sp>
        <p:nvSpPr>
          <p:cNvPr id="40" name="Isosceles Triangle 39"/>
          <p:cNvSpPr/>
          <p:nvPr/>
        </p:nvSpPr>
        <p:spPr>
          <a:xfrm rot="5400000">
            <a:off x="6163055" y="1746504"/>
            <a:ext cx="201168" cy="164592"/>
          </a:xfrm>
          <a:prstGeom prst="triangle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6345936" y="1719072"/>
            <a:ext cx="0" cy="219456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42" name="Connector 41"/>
          <p:cNvCxnSpPr/>
          <p:nvPr/>
        </p:nvCxnSpPr>
        <p:spPr>
          <a:xfrm flipV="1">
            <a:off x="6213348" y="1624763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cxnSp>
        <p:nvCxnSpPr>
          <p:cNvPr id="43" name="Connector 42"/>
          <p:cNvCxnSpPr/>
          <p:nvPr/>
        </p:nvCxnSpPr>
        <p:spPr>
          <a:xfrm flipV="1">
            <a:off x="6313931" y="1624763"/>
            <a:ext cx="103453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sp>
        <p:nvSpPr>
          <p:cNvPr id="44" name="TextBox 43"/>
          <p:cNvSpPr txBox="1"/>
          <p:nvPr/>
        </p:nvSpPr>
        <p:spPr>
          <a:xfrm>
            <a:off x="6035040" y="192938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EAF0F6"/>
                </a:solidFill>
                <a:latin typeface="Calibri"/>
              </a:rPr>
              <a:t>LED5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6528816" y="1746504"/>
            <a:ext cx="201168" cy="164592"/>
          </a:xfrm>
          <a:prstGeom prst="triangle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6711696" y="1719072"/>
            <a:ext cx="0" cy="219456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47" name="Connector 46"/>
          <p:cNvCxnSpPr/>
          <p:nvPr/>
        </p:nvCxnSpPr>
        <p:spPr>
          <a:xfrm flipV="1">
            <a:off x="6579108" y="1624763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cxnSp>
        <p:nvCxnSpPr>
          <p:cNvPr id="48" name="Connector 47"/>
          <p:cNvCxnSpPr/>
          <p:nvPr/>
        </p:nvCxnSpPr>
        <p:spPr>
          <a:xfrm flipV="1">
            <a:off x="6679692" y="1624763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sp>
        <p:nvSpPr>
          <p:cNvPr id="49" name="TextBox 48"/>
          <p:cNvSpPr txBox="1"/>
          <p:nvPr/>
        </p:nvSpPr>
        <p:spPr>
          <a:xfrm>
            <a:off x="6400800" y="192938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EAF0F6"/>
                </a:solidFill>
                <a:latin typeface="Calibri"/>
              </a:rPr>
              <a:t>LED6</a:t>
            </a:r>
          </a:p>
        </p:txBody>
      </p:sp>
      <p:sp>
        <p:nvSpPr>
          <p:cNvPr id="50" name="Isosceles Triangle 49"/>
          <p:cNvSpPr/>
          <p:nvPr/>
        </p:nvSpPr>
        <p:spPr>
          <a:xfrm rot="5400000">
            <a:off x="6894576" y="1746504"/>
            <a:ext cx="201168" cy="164592"/>
          </a:xfrm>
          <a:prstGeom prst="triangle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7077456" y="1719072"/>
            <a:ext cx="0" cy="219456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52" name="Connector 51"/>
          <p:cNvCxnSpPr/>
          <p:nvPr/>
        </p:nvCxnSpPr>
        <p:spPr>
          <a:xfrm flipV="1">
            <a:off x="6944868" y="1624763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cxnSp>
        <p:nvCxnSpPr>
          <p:cNvPr id="53" name="Connector 52"/>
          <p:cNvCxnSpPr/>
          <p:nvPr/>
        </p:nvCxnSpPr>
        <p:spPr>
          <a:xfrm flipV="1">
            <a:off x="7045452" y="1624763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sp>
        <p:nvSpPr>
          <p:cNvPr id="54" name="TextBox 53"/>
          <p:cNvSpPr txBox="1"/>
          <p:nvPr/>
        </p:nvSpPr>
        <p:spPr>
          <a:xfrm>
            <a:off x="6766560" y="192938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EAF0F6"/>
                </a:solidFill>
                <a:latin typeface="Calibri"/>
              </a:rPr>
              <a:t>LED7</a:t>
            </a:r>
          </a:p>
        </p:txBody>
      </p:sp>
      <p:sp>
        <p:nvSpPr>
          <p:cNvPr id="55" name="Isosceles Triangle 54"/>
          <p:cNvSpPr/>
          <p:nvPr/>
        </p:nvSpPr>
        <p:spPr>
          <a:xfrm rot="5400000">
            <a:off x="7260336" y="1746504"/>
            <a:ext cx="201168" cy="164592"/>
          </a:xfrm>
          <a:prstGeom prst="triangle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7443216" y="1719072"/>
            <a:ext cx="0" cy="219456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57" name="Connector 56"/>
          <p:cNvCxnSpPr/>
          <p:nvPr/>
        </p:nvCxnSpPr>
        <p:spPr>
          <a:xfrm flipV="1">
            <a:off x="7310628" y="1624763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cxnSp>
        <p:nvCxnSpPr>
          <p:cNvPr id="58" name="Connector 57"/>
          <p:cNvCxnSpPr/>
          <p:nvPr/>
        </p:nvCxnSpPr>
        <p:spPr>
          <a:xfrm flipV="1">
            <a:off x="7411212" y="1624763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sp>
        <p:nvSpPr>
          <p:cNvPr id="59" name="TextBox 58"/>
          <p:cNvSpPr txBox="1"/>
          <p:nvPr/>
        </p:nvSpPr>
        <p:spPr>
          <a:xfrm>
            <a:off x="7132320" y="192938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EAF0F6"/>
                </a:solidFill>
                <a:latin typeface="Calibri"/>
              </a:rPr>
              <a:t>LED8</a:t>
            </a:r>
          </a:p>
        </p:txBody>
      </p:sp>
      <p:sp>
        <p:nvSpPr>
          <p:cNvPr id="60" name="Isosceles Triangle 59"/>
          <p:cNvSpPr/>
          <p:nvPr/>
        </p:nvSpPr>
        <p:spPr>
          <a:xfrm rot="10800000">
            <a:off x="7854696" y="2386584"/>
            <a:ext cx="201168" cy="164592"/>
          </a:xfrm>
          <a:prstGeom prst="triangle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H="1">
            <a:off x="7845552" y="2551176"/>
            <a:ext cx="219456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62" name="Connector 61"/>
          <p:cNvCxnSpPr/>
          <p:nvPr/>
        </p:nvCxnSpPr>
        <p:spPr>
          <a:xfrm flipV="1">
            <a:off x="8055864" y="2315135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cxnSp>
        <p:nvCxnSpPr>
          <p:cNvPr id="63" name="Connector 62"/>
          <p:cNvCxnSpPr/>
          <p:nvPr/>
        </p:nvCxnSpPr>
        <p:spPr>
          <a:xfrm flipV="1">
            <a:off x="8055864" y="2415719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sp>
        <p:nvSpPr>
          <p:cNvPr id="64" name="TextBox 63"/>
          <p:cNvSpPr txBox="1"/>
          <p:nvPr/>
        </p:nvSpPr>
        <p:spPr>
          <a:xfrm>
            <a:off x="7552944" y="239572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EAF0F6"/>
                </a:solidFill>
                <a:latin typeface="Calibri"/>
              </a:rPr>
              <a:t>LED1</a:t>
            </a:r>
          </a:p>
        </p:txBody>
      </p:sp>
      <p:sp>
        <p:nvSpPr>
          <p:cNvPr id="65" name="Isosceles Triangle 64"/>
          <p:cNvSpPr/>
          <p:nvPr/>
        </p:nvSpPr>
        <p:spPr>
          <a:xfrm rot="10800000">
            <a:off x="7854696" y="2752344"/>
            <a:ext cx="201168" cy="164592"/>
          </a:xfrm>
          <a:prstGeom prst="triangle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 flipH="1">
            <a:off x="7845552" y="2916936"/>
            <a:ext cx="219456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67" name="Connector 66"/>
          <p:cNvCxnSpPr/>
          <p:nvPr/>
        </p:nvCxnSpPr>
        <p:spPr>
          <a:xfrm flipV="1">
            <a:off x="8055864" y="2680895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cxnSp>
        <p:nvCxnSpPr>
          <p:cNvPr id="68" name="Connector 67"/>
          <p:cNvCxnSpPr/>
          <p:nvPr/>
        </p:nvCxnSpPr>
        <p:spPr>
          <a:xfrm flipV="1">
            <a:off x="8055864" y="2781479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sp>
        <p:nvSpPr>
          <p:cNvPr id="69" name="TextBox 68"/>
          <p:cNvSpPr txBox="1"/>
          <p:nvPr/>
        </p:nvSpPr>
        <p:spPr>
          <a:xfrm>
            <a:off x="7552944" y="276148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EAF0F6"/>
                </a:solidFill>
                <a:latin typeface="Calibri"/>
              </a:rPr>
              <a:t>LED2</a:t>
            </a:r>
          </a:p>
        </p:txBody>
      </p:sp>
      <p:sp>
        <p:nvSpPr>
          <p:cNvPr id="70" name="Isosceles Triangle 69"/>
          <p:cNvSpPr/>
          <p:nvPr/>
        </p:nvSpPr>
        <p:spPr>
          <a:xfrm rot="10800000">
            <a:off x="7854696" y="3118104"/>
            <a:ext cx="201168" cy="164592"/>
          </a:xfrm>
          <a:prstGeom prst="triangle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 flipH="1">
            <a:off x="7845552" y="3282696"/>
            <a:ext cx="219456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72" name="Connector 71"/>
          <p:cNvCxnSpPr/>
          <p:nvPr/>
        </p:nvCxnSpPr>
        <p:spPr>
          <a:xfrm flipV="1">
            <a:off x="8055864" y="3046655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cxnSp>
        <p:nvCxnSpPr>
          <p:cNvPr id="73" name="Connector 72"/>
          <p:cNvCxnSpPr/>
          <p:nvPr/>
        </p:nvCxnSpPr>
        <p:spPr>
          <a:xfrm flipV="1">
            <a:off x="8055864" y="3147239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sp>
        <p:nvSpPr>
          <p:cNvPr id="74" name="TextBox 73"/>
          <p:cNvSpPr txBox="1"/>
          <p:nvPr/>
        </p:nvSpPr>
        <p:spPr>
          <a:xfrm>
            <a:off x="7552944" y="312724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EAF0F6"/>
                </a:solidFill>
                <a:latin typeface="Calibri"/>
              </a:rPr>
              <a:t>LED3</a:t>
            </a:r>
          </a:p>
        </p:txBody>
      </p:sp>
      <p:sp>
        <p:nvSpPr>
          <p:cNvPr id="75" name="Isosceles Triangle 74"/>
          <p:cNvSpPr/>
          <p:nvPr/>
        </p:nvSpPr>
        <p:spPr>
          <a:xfrm rot="10800000">
            <a:off x="7854696" y="3483864"/>
            <a:ext cx="201168" cy="164592"/>
          </a:xfrm>
          <a:prstGeom prst="triangle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H="1">
            <a:off x="7845552" y="3648456"/>
            <a:ext cx="219456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77" name="Connector 76"/>
          <p:cNvCxnSpPr/>
          <p:nvPr/>
        </p:nvCxnSpPr>
        <p:spPr>
          <a:xfrm flipV="1">
            <a:off x="8055864" y="3412415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cxnSp>
        <p:nvCxnSpPr>
          <p:cNvPr id="78" name="Connector 77"/>
          <p:cNvCxnSpPr/>
          <p:nvPr/>
        </p:nvCxnSpPr>
        <p:spPr>
          <a:xfrm flipV="1">
            <a:off x="8055864" y="3512999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sp>
        <p:nvSpPr>
          <p:cNvPr id="79" name="TextBox 78"/>
          <p:cNvSpPr txBox="1"/>
          <p:nvPr/>
        </p:nvSpPr>
        <p:spPr>
          <a:xfrm>
            <a:off x="7552944" y="349300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EAF0F6"/>
                </a:solidFill>
                <a:latin typeface="Calibri"/>
              </a:rPr>
              <a:t>LED4</a:t>
            </a:r>
          </a:p>
        </p:txBody>
      </p:sp>
      <p:sp>
        <p:nvSpPr>
          <p:cNvPr id="80" name="Isosceles Triangle 79"/>
          <p:cNvSpPr/>
          <p:nvPr/>
        </p:nvSpPr>
        <p:spPr>
          <a:xfrm rot="10800000">
            <a:off x="7854696" y="3849624"/>
            <a:ext cx="201168" cy="164592"/>
          </a:xfrm>
          <a:prstGeom prst="triangle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 flipH="1">
            <a:off x="7845552" y="4014216"/>
            <a:ext cx="219456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82" name="Connector 81"/>
          <p:cNvCxnSpPr/>
          <p:nvPr/>
        </p:nvCxnSpPr>
        <p:spPr>
          <a:xfrm flipV="1">
            <a:off x="8055864" y="3778175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cxnSp>
        <p:nvCxnSpPr>
          <p:cNvPr id="83" name="Connector 82"/>
          <p:cNvCxnSpPr/>
          <p:nvPr/>
        </p:nvCxnSpPr>
        <p:spPr>
          <a:xfrm flipV="1">
            <a:off x="8055864" y="3878759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sp>
        <p:nvSpPr>
          <p:cNvPr id="84" name="TextBox 83"/>
          <p:cNvSpPr txBox="1"/>
          <p:nvPr/>
        </p:nvSpPr>
        <p:spPr>
          <a:xfrm>
            <a:off x="7552944" y="385876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EAF0F6"/>
                </a:solidFill>
                <a:latin typeface="Calibri"/>
              </a:rPr>
              <a:t>LED5</a:t>
            </a:r>
          </a:p>
        </p:txBody>
      </p:sp>
      <p:sp>
        <p:nvSpPr>
          <p:cNvPr id="85" name="Isosceles Triangle 84"/>
          <p:cNvSpPr/>
          <p:nvPr/>
        </p:nvSpPr>
        <p:spPr>
          <a:xfrm rot="10800000">
            <a:off x="7854696" y="4215384"/>
            <a:ext cx="201168" cy="164592"/>
          </a:xfrm>
          <a:prstGeom prst="triangle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45552" y="4379976"/>
            <a:ext cx="219456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87" name="Connector 86"/>
          <p:cNvCxnSpPr/>
          <p:nvPr/>
        </p:nvCxnSpPr>
        <p:spPr>
          <a:xfrm flipV="1">
            <a:off x="8055864" y="4143935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cxnSp>
        <p:nvCxnSpPr>
          <p:cNvPr id="88" name="Connector 87"/>
          <p:cNvCxnSpPr/>
          <p:nvPr/>
        </p:nvCxnSpPr>
        <p:spPr>
          <a:xfrm flipV="1">
            <a:off x="8055864" y="4244519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sp>
        <p:nvSpPr>
          <p:cNvPr id="89" name="TextBox 88"/>
          <p:cNvSpPr txBox="1"/>
          <p:nvPr/>
        </p:nvSpPr>
        <p:spPr>
          <a:xfrm>
            <a:off x="7552944" y="422452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EAF0F6"/>
                </a:solidFill>
                <a:latin typeface="Calibri"/>
              </a:rPr>
              <a:t>LED6</a:t>
            </a:r>
          </a:p>
        </p:txBody>
      </p:sp>
      <p:sp>
        <p:nvSpPr>
          <p:cNvPr id="90" name="Isosceles Triangle 89"/>
          <p:cNvSpPr/>
          <p:nvPr/>
        </p:nvSpPr>
        <p:spPr>
          <a:xfrm rot="10800000">
            <a:off x="7854696" y="4581144"/>
            <a:ext cx="201168" cy="164592"/>
          </a:xfrm>
          <a:prstGeom prst="triangle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 flipH="1">
            <a:off x="7845552" y="4745736"/>
            <a:ext cx="219456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92" name="Connector 91"/>
          <p:cNvCxnSpPr/>
          <p:nvPr/>
        </p:nvCxnSpPr>
        <p:spPr>
          <a:xfrm flipV="1">
            <a:off x="8055864" y="4509695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cxnSp>
        <p:nvCxnSpPr>
          <p:cNvPr id="93" name="Connector 92"/>
          <p:cNvCxnSpPr/>
          <p:nvPr/>
        </p:nvCxnSpPr>
        <p:spPr>
          <a:xfrm flipV="1">
            <a:off x="8055864" y="4610279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sp>
        <p:nvSpPr>
          <p:cNvPr id="94" name="TextBox 93"/>
          <p:cNvSpPr txBox="1"/>
          <p:nvPr/>
        </p:nvSpPr>
        <p:spPr>
          <a:xfrm>
            <a:off x="7552944" y="459028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EAF0F6"/>
                </a:solidFill>
                <a:latin typeface="Calibri"/>
              </a:rPr>
              <a:t>LED7</a:t>
            </a:r>
          </a:p>
        </p:txBody>
      </p:sp>
      <p:sp>
        <p:nvSpPr>
          <p:cNvPr id="95" name="Isosceles Triangle 94"/>
          <p:cNvSpPr/>
          <p:nvPr/>
        </p:nvSpPr>
        <p:spPr>
          <a:xfrm rot="10800000">
            <a:off x="7854696" y="4946904"/>
            <a:ext cx="201168" cy="164592"/>
          </a:xfrm>
          <a:prstGeom prst="triangle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 flipH="1">
            <a:off x="7845552" y="5111496"/>
            <a:ext cx="219456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97" name="Connector 96"/>
          <p:cNvCxnSpPr/>
          <p:nvPr/>
        </p:nvCxnSpPr>
        <p:spPr>
          <a:xfrm flipV="1">
            <a:off x="8055864" y="4875455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cxnSp>
        <p:nvCxnSpPr>
          <p:cNvPr id="98" name="Connector 97"/>
          <p:cNvCxnSpPr/>
          <p:nvPr/>
        </p:nvCxnSpPr>
        <p:spPr>
          <a:xfrm flipV="1">
            <a:off x="8055864" y="4976039"/>
            <a:ext cx="103452" cy="103453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sp>
        <p:nvSpPr>
          <p:cNvPr id="99" name="TextBox 98"/>
          <p:cNvSpPr txBox="1"/>
          <p:nvPr/>
        </p:nvSpPr>
        <p:spPr>
          <a:xfrm>
            <a:off x="7552944" y="495604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EAF0F6"/>
                </a:solidFill>
                <a:latin typeface="Calibri"/>
              </a:rPr>
              <a:t>LED8</a:t>
            </a:r>
          </a:p>
        </p:txBody>
      </p:sp>
      <p:sp>
        <p:nvSpPr>
          <p:cNvPr id="100" name="Isosceles Triangle 99"/>
          <p:cNvSpPr/>
          <p:nvPr/>
        </p:nvSpPr>
        <p:spPr>
          <a:xfrm rot="16200000">
            <a:off x="7260336" y="5586984"/>
            <a:ext cx="201168" cy="164592"/>
          </a:xfrm>
          <a:prstGeom prst="triangle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 flipV="1">
            <a:off x="7278624" y="5559552"/>
            <a:ext cx="0" cy="219456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102" name="Connector 101"/>
          <p:cNvCxnSpPr/>
          <p:nvPr/>
        </p:nvCxnSpPr>
        <p:spPr>
          <a:xfrm flipH="1">
            <a:off x="7307759" y="5769864"/>
            <a:ext cx="103453" cy="103452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cxnSp>
        <p:nvCxnSpPr>
          <p:cNvPr id="103" name="Connector 102"/>
          <p:cNvCxnSpPr/>
          <p:nvPr/>
        </p:nvCxnSpPr>
        <p:spPr>
          <a:xfrm flipH="1">
            <a:off x="7207175" y="5769864"/>
            <a:ext cx="103453" cy="103452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sp>
        <p:nvSpPr>
          <p:cNvPr id="104" name="TextBox 103"/>
          <p:cNvSpPr txBox="1"/>
          <p:nvPr/>
        </p:nvSpPr>
        <p:spPr>
          <a:xfrm>
            <a:off x="7132320" y="5422392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EAF0F6"/>
                </a:solidFill>
                <a:latin typeface="Calibri"/>
              </a:rPr>
              <a:t>LED1</a:t>
            </a:r>
          </a:p>
        </p:txBody>
      </p:sp>
      <p:sp>
        <p:nvSpPr>
          <p:cNvPr id="105" name="Isosceles Triangle 104"/>
          <p:cNvSpPr/>
          <p:nvPr/>
        </p:nvSpPr>
        <p:spPr>
          <a:xfrm rot="16200000">
            <a:off x="6894576" y="5586984"/>
            <a:ext cx="201168" cy="164592"/>
          </a:xfrm>
          <a:prstGeom prst="triangle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 flipV="1">
            <a:off x="6912864" y="5559552"/>
            <a:ext cx="0" cy="219456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107" name="Connector 106"/>
          <p:cNvCxnSpPr/>
          <p:nvPr/>
        </p:nvCxnSpPr>
        <p:spPr>
          <a:xfrm flipH="1">
            <a:off x="6941999" y="5769864"/>
            <a:ext cx="103453" cy="103452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cxnSp>
        <p:nvCxnSpPr>
          <p:cNvPr id="108" name="Connector 107"/>
          <p:cNvCxnSpPr/>
          <p:nvPr/>
        </p:nvCxnSpPr>
        <p:spPr>
          <a:xfrm flipH="1">
            <a:off x="6841415" y="5769864"/>
            <a:ext cx="103453" cy="103452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sp>
        <p:nvSpPr>
          <p:cNvPr id="109" name="TextBox 108"/>
          <p:cNvSpPr txBox="1"/>
          <p:nvPr/>
        </p:nvSpPr>
        <p:spPr>
          <a:xfrm>
            <a:off x="6766560" y="5422392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EAF0F6"/>
                </a:solidFill>
                <a:latin typeface="Calibri"/>
              </a:rPr>
              <a:t>LED2</a:t>
            </a:r>
          </a:p>
        </p:txBody>
      </p:sp>
      <p:sp>
        <p:nvSpPr>
          <p:cNvPr id="110" name="Isosceles Triangle 109"/>
          <p:cNvSpPr/>
          <p:nvPr/>
        </p:nvSpPr>
        <p:spPr>
          <a:xfrm rot="16200000">
            <a:off x="6528816" y="5586984"/>
            <a:ext cx="201168" cy="164592"/>
          </a:xfrm>
          <a:prstGeom prst="triangle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 flipV="1">
            <a:off x="6547104" y="5559552"/>
            <a:ext cx="0" cy="219456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112" name="Connector 111"/>
          <p:cNvCxnSpPr/>
          <p:nvPr/>
        </p:nvCxnSpPr>
        <p:spPr>
          <a:xfrm flipH="1">
            <a:off x="6576239" y="5769864"/>
            <a:ext cx="103453" cy="103452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cxnSp>
        <p:nvCxnSpPr>
          <p:cNvPr id="113" name="Connector 112"/>
          <p:cNvCxnSpPr/>
          <p:nvPr/>
        </p:nvCxnSpPr>
        <p:spPr>
          <a:xfrm flipH="1">
            <a:off x="6475655" y="5769864"/>
            <a:ext cx="103453" cy="103452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sp>
        <p:nvSpPr>
          <p:cNvPr id="114" name="TextBox 113"/>
          <p:cNvSpPr txBox="1"/>
          <p:nvPr/>
        </p:nvSpPr>
        <p:spPr>
          <a:xfrm>
            <a:off x="6400800" y="5422392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EAF0F6"/>
                </a:solidFill>
                <a:latin typeface="Calibri"/>
              </a:rPr>
              <a:t>LED3</a:t>
            </a:r>
          </a:p>
        </p:txBody>
      </p:sp>
      <p:sp>
        <p:nvSpPr>
          <p:cNvPr id="115" name="Isosceles Triangle 114"/>
          <p:cNvSpPr/>
          <p:nvPr/>
        </p:nvSpPr>
        <p:spPr>
          <a:xfrm rot="16200000">
            <a:off x="6163055" y="5586984"/>
            <a:ext cx="201168" cy="164592"/>
          </a:xfrm>
          <a:prstGeom prst="triangle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 flipV="1">
            <a:off x="6181344" y="5559552"/>
            <a:ext cx="0" cy="219456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117" name="Connector 116"/>
          <p:cNvCxnSpPr/>
          <p:nvPr/>
        </p:nvCxnSpPr>
        <p:spPr>
          <a:xfrm flipH="1">
            <a:off x="6210479" y="5769864"/>
            <a:ext cx="103452" cy="103452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cxnSp>
        <p:nvCxnSpPr>
          <p:cNvPr id="118" name="Connector 117"/>
          <p:cNvCxnSpPr/>
          <p:nvPr/>
        </p:nvCxnSpPr>
        <p:spPr>
          <a:xfrm flipH="1">
            <a:off x="6109895" y="5769864"/>
            <a:ext cx="103453" cy="103452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sp>
        <p:nvSpPr>
          <p:cNvPr id="119" name="TextBox 118"/>
          <p:cNvSpPr txBox="1"/>
          <p:nvPr/>
        </p:nvSpPr>
        <p:spPr>
          <a:xfrm>
            <a:off x="6035040" y="5422392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EAF0F6"/>
                </a:solidFill>
                <a:latin typeface="Calibri"/>
              </a:rPr>
              <a:t>LED4</a:t>
            </a:r>
          </a:p>
        </p:txBody>
      </p:sp>
      <p:sp>
        <p:nvSpPr>
          <p:cNvPr id="120" name="Isosceles Triangle 119"/>
          <p:cNvSpPr/>
          <p:nvPr/>
        </p:nvSpPr>
        <p:spPr>
          <a:xfrm rot="16200000">
            <a:off x="5797296" y="5586984"/>
            <a:ext cx="201168" cy="164592"/>
          </a:xfrm>
          <a:prstGeom prst="triangle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 flipV="1">
            <a:off x="5815584" y="5559552"/>
            <a:ext cx="0" cy="219456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122" name="Connector 121"/>
          <p:cNvCxnSpPr/>
          <p:nvPr/>
        </p:nvCxnSpPr>
        <p:spPr>
          <a:xfrm flipH="1">
            <a:off x="5844719" y="5769864"/>
            <a:ext cx="103453" cy="103452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cxnSp>
        <p:nvCxnSpPr>
          <p:cNvPr id="123" name="Connector 122"/>
          <p:cNvCxnSpPr/>
          <p:nvPr/>
        </p:nvCxnSpPr>
        <p:spPr>
          <a:xfrm flipH="1">
            <a:off x="5744135" y="5769864"/>
            <a:ext cx="103453" cy="103452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sp>
        <p:nvSpPr>
          <p:cNvPr id="124" name="TextBox 123"/>
          <p:cNvSpPr txBox="1"/>
          <p:nvPr/>
        </p:nvSpPr>
        <p:spPr>
          <a:xfrm>
            <a:off x="5669280" y="5422392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EAF0F6"/>
                </a:solidFill>
                <a:latin typeface="Calibri"/>
              </a:rPr>
              <a:t>LED5</a:t>
            </a:r>
          </a:p>
        </p:txBody>
      </p:sp>
      <p:sp>
        <p:nvSpPr>
          <p:cNvPr id="125" name="Isosceles Triangle 124"/>
          <p:cNvSpPr/>
          <p:nvPr/>
        </p:nvSpPr>
        <p:spPr>
          <a:xfrm rot="16200000">
            <a:off x="5431536" y="5586984"/>
            <a:ext cx="201168" cy="164592"/>
          </a:xfrm>
          <a:prstGeom prst="triangle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6" name="Connector 125"/>
          <p:cNvCxnSpPr/>
          <p:nvPr/>
        </p:nvCxnSpPr>
        <p:spPr>
          <a:xfrm flipV="1">
            <a:off x="5449824" y="5559552"/>
            <a:ext cx="0" cy="219456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127" name="Connector 126"/>
          <p:cNvCxnSpPr/>
          <p:nvPr/>
        </p:nvCxnSpPr>
        <p:spPr>
          <a:xfrm flipH="1">
            <a:off x="5478959" y="5769864"/>
            <a:ext cx="103453" cy="103452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cxnSp>
        <p:nvCxnSpPr>
          <p:cNvPr id="128" name="Connector 127"/>
          <p:cNvCxnSpPr/>
          <p:nvPr/>
        </p:nvCxnSpPr>
        <p:spPr>
          <a:xfrm flipH="1">
            <a:off x="5378375" y="5769864"/>
            <a:ext cx="103453" cy="103452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sp>
        <p:nvSpPr>
          <p:cNvPr id="129" name="TextBox 128"/>
          <p:cNvSpPr txBox="1"/>
          <p:nvPr/>
        </p:nvSpPr>
        <p:spPr>
          <a:xfrm>
            <a:off x="5303520" y="5422392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EAF0F6"/>
                </a:solidFill>
                <a:latin typeface="Calibri"/>
              </a:rPr>
              <a:t>LED6</a:t>
            </a:r>
          </a:p>
        </p:txBody>
      </p:sp>
      <p:sp>
        <p:nvSpPr>
          <p:cNvPr id="130" name="Isosceles Triangle 129"/>
          <p:cNvSpPr/>
          <p:nvPr/>
        </p:nvSpPr>
        <p:spPr>
          <a:xfrm rot="16200000">
            <a:off x="5065776" y="5586984"/>
            <a:ext cx="201168" cy="164592"/>
          </a:xfrm>
          <a:prstGeom prst="triangle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 flipV="1">
            <a:off x="5084064" y="5559552"/>
            <a:ext cx="0" cy="219456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132" name="Connector 131"/>
          <p:cNvCxnSpPr/>
          <p:nvPr/>
        </p:nvCxnSpPr>
        <p:spPr>
          <a:xfrm flipH="1">
            <a:off x="5113199" y="5769864"/>
            <a:ext cx="103453" cy="103452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cxnSp>
        <p:nvCxnSpPr>
          <p:cNvPr id="133" name="Connector 132"/>
          <p:cNvCxnSpPr/>
          <p:nvPr/>
        </p:nvCxnSpPr>
        <p:spPr>
          <a:xfrm flipH="1">
            <a:off x="5012615" y="5769864"/>
            <a:ext cx="103453" cy="103452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sp>
        <p:nvSpPr>
          <p:cNvPr id="134" name="TextBox 133"/>
          <p:cNvSpPr txBox="1"/>
          <p:nvPr/>
        </p:nvSpPr>
        <p:spPr>
          <a:xfrm>
            <a:off x="4937760" y="5422392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EAF0F6"/>
                </a:solidFill>
                <a:latin typeface="Calibri"/>
              </a:rPr>
              <a:t>LED7</a:t>
            </a:r>
          </a:p>
        </p:txBody>
      </p:sp>
      <p:sp>
        <p:nvSpPr>
          <p:cNvPr id="135" name="Isosceles Triangle 134"/>
          <p:cNvSpPr/>
          <p:nvPr/>
        </p:nvSpPr>
        <p:spPr>
          <a:xfrm rot="16200000">
            <a:off x="4700016" y="5586984"/>
            <a:ext cx="201168" cy="164592"/>
          </a:xfrm>
          <a:prstGeom prst="triangle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6" name="Connector 135"/>
          <p:cNvCxnSpPr/>
          <p:nvPr/>
        </p:nvCxnSpPr>
        <p:spPr>
          <a:xfrm flipV="1">
            <a:off x="4718304" y="5559552"/>
            <a:ext cx="0" cy="219456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137" name="Connector 136"/>
          <p:cNvCxnSpPr/>
          <p:nvPr/>
        </p:nvCxnSpPr>
        <p:spPr>
          <a:xfrm flipH="1">
            <a:off x="4747439" y="5769864"/>
            <a:ext cx="103453" cy="103452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cxnSp>
        <p:nvCxnSpPr>
          <p:cNvPr id="138" name="Connector 137"/>
          <p:cNvCxnSpPr/>
          <p:nvPr/>
        </p:nvCxnSpPr>
        <p:spPr>
          <a:xfrm flipH="1">
            <a:off x="4646855" y="5769864"/>
            <a:ext cx="103453" cy="103452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sp>
        <p:nvSpPr>
          <p:cNvPr id="139" name="TextBox 138"/>
          <p:cNvSpPr txBox="1"/>
          <p:nvPr/>
        </p:nvSpPr>
        <p:spPr>
          <a:xfrm>
            <a:off x="4572000" y="5422392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EAF0F6"/>
                </a:solidFill>
                <a:latin typeface="Calibri"/>
              </a:rPr>
              <a:t>LED8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480560" y="1170432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1" i="0">
                <a:solidFill>
                  <a:srgbClr val="EAF0F6"/>
                </a:solidFill>
                <a:latin typeface="Calibri"/>
              </a:rPr>
              <a:t>DRL PCB 1</a:t>
            </a:r>
            <a:r>
              <a:rPr sz="1100" b="0" i="0">
                <a:solidFill>
                  <a:srgbClr val="FFD34D"/>
                </a:solidFill>
                <a:latin typeface="Calibri"/>
              </a:rPr>
              <a:t>   light ↑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480560" y="6016752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EAF0F6"/>
                </a:solidFill>
                <a:latin typeface="Calibri"/>
              </a:rPr>
              <a:t>DRL PCB 3</a:t>
            </a:r>
            <a:r>
              <a:rPr sz="1100" b="0" i="0">
                <a:solidFill>
                  <a:srgbClr val="FFD34D"/>
                </a:solidFill>
                <a:latin typeface="Calibri"/>
              </a:rPr>
              <a:t>   light ↓</a:t>
            </a:r>
          </a:p>
        </p:txBody>
      </p:sp>
      <p:sp>
        <p:nvSpPr>
          <p:cNvPr id="142" name="TextBox 141"/>
          <p:cNvSpPr txBox="1"/>
          <p:nvPr/>
        </p:nvSpPr>
        <p:spPr>
          <a:xfrm rot="16200000">
            <a:off x="6153912" y="3593591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AF0F6"/>
                </a:solidFill>
                <a:latin typeface="Calibri"/>
              </a:rPr>
              <a:t>DRL PCB 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766560" y="44348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FFD34D"/>
                </a:solidFill>
                <a:latin typeface="Calibri"/>
              </a:rPr>
              <a:t>light →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8302752" y="2103120"/>
            <a:ext cx="118872" cy="3291840"/>
          </a:xfrm>
          <a:prstGeom prst="roundRect">
            <a:avLst/>
          </a:prstGeom>
          <a:solidFill>
            <a:srgbClr val="4A6FA5"/>
          </a:solidFill>
          <a:ln w="9525">
            <a:solidFill>
              <a:srgbClr val="7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10149840" y="2103120"/>
            <a:ext cx="118872" cy="3291840"/>
          </a:xfrm>
          <a:prstGeom prst="roundRect">
            <a:avLst/>
          </a:prstGeom>
          <a:solidFill>
            <a:srgbClr val="4A6FA5"/>
          </a:solidFill>
          <a:ln w="9525">
            <a:solidFill>
              <a:srgbClr val="7FA7C9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6" name="Connector 145"/>
          <p:cNvCxnSpPr/>
          <p:nvPr/>
        </p:nvCxnSpPr>
        <p:spPr>
          <a:xfrm>
            <a:off x="8421624" y="2468880"/>
            <a:ext cx="1728216" cy="0"/>
          </a:xfrm>
          <a:prstGeom prst="line">
            <a:avLst/>
          </a:prstGeom>
          <a:ln w="15875">
            <a:solidFill>
              <a:srgbClr val="7FA7C9"/>
            </a:solidFill>
          </a:ln>
        </p:spPr>
      </p:cxnSp>
      <p:cxnSp>
        <p:nvCxnSpPr>
          <p:cNvPr id="147" name="Connector 146"/>
          <p:cNvCxnSpPr/>
          <p:nvPr/>
        </p:nvCxnSpPr>
        <p:spPr>
          <a:xfrm>
            <a:off x="8421624" y="2834640"/>
            <a:ext cx="1728216" cy="0"/>
          </a:xfrm>
          <a:prstGeom prst="line">
            <a:avLst/>
          </a:prstGeom>
          <a:ln w="15875">
            <a:solidFill>
              <a:srgbClr val="7FA7C9"/>
            </a:solidFill>
          </a:ln>
        </p:spPr>
      </p:cxnSp>
      <p:cxnSp>
        <p:nvCxnSpPr>
          <p:cNvPr id="148" name="Connector 147"/>
          <p:cNvCxnSpPr/>
          <p:nvPr/>
        </p:nvCxnSpPr>
        <p:spPr>
          <a:xfrm>
            <a:off x="8421624" y="3200400"/>
            <a:ext cx="1728216" cy="0"/>
          </a:xfrm>
          <a:prstGeom prst="line">
            <a:avLst/>
          </a:prstGeom>
          <a:ln w="15875">
            <a:solidFill>
              <a:srgbClr val="7FA7C9"/>
            </a:solidFill>
          </a:ln>
        </p:spPr>
      </p:cxnSp>
      <p:cxnSp>
        <p:nvCxnSpPr>
          <p:cNvPr id="149" name="Connector 148"/>
          <p:cNvCxnSpPr/>
          <p:nvPr/>
        </p:nvCxnSpPr>
        <p:spPr>
          <a:xfrm>
            <a:off x="8421624" y="3566160"/>
            <a:ext cx="1728216" cy="0"/>
          </a:xfrm>
          <a:prstGeom prst="line">
            <a:avLst/>
          </a:prstGeom>
          <a:ln w="15875">
            <a:solidFill>
              <a:srgbClr val="7FA7C9"/>
            </a:solidFill>
          </a:ln>
        </p:spPr>
      </p:cxnSp>
      <p:cxnSp>
        <p:nvCxnSpPr>
          <p:cNvPr id="150" name="Connector 149"/>
          <p:cNvCxnSpPr/>
          <p:nvPr/>
        </p:nvCxnSpPr>
        <p:spPr>
          <a:xfrm>
            <a:off x="8421624" y="3931920"/>
            <a:ext cx="1728216" cy="0"/>
          </a:xfrm>
          <a:prstGeom prst="line">
            <a:avLst/>
          </a:prstGeom>
          <a:ln w="15875">
            <a:solidFill>
              <a:srgbClr val="7FA7C9"/>
            </a:solidFill>
          </a:ln>
        </p:spPr>
      </p:cxnSp>
      <p:cxnSp>
        <p:nvCxnSpPr>
          <p:cNvPr id="151" name="Connector 150"/>
          <p:cNvCxnSpPr/>
          <p:nvPr/>
        </p:nvCxnSpPr>
        <p:spPr>
          <a:xfrm>
            <a:off x="8421624" y="4297680"/>
            <a:ext cx="1728216" cy="0"/>
          </a:xfrm>
          <a:prstGeom prst="line">
            <a:avLst/>
          </a:prstGeom>
          <a:ln w="15875">
            <a:solidFill>
              <a:srgbClr val="7FA7C9"/>
            </a:solidFill>
          </a:ln>
        </p:spPr>
      </p:cxnSp>
      <p:cxnSp>
        <p:nvCxnSpPr>
          <p:cNvPr id="152" name="Connector 151"/>
          <p:cNvCxnSpPr/>
          <p:nvPr/>
        </p:nvCxnSpPr>
        <p:spPr>
          <a:xfrm>
            <a:off x="8421624" y="4663440"/>
            <a:ext cx="1728216" cy="0"/>
          </a:xfrm>
          <a:prstGeom prst="line">
            <a:avLst/>
          </a:prstGeom>
          <a:ln w="15875">
            <a:solidFill>
              <a:srgbClr val="7FA7C9"/>
            </a:solidFill>
          </a:ln>
        </p:spPr>
      </p:cxnSp>
      <p:cxnSp>
        <p:nvCxnSpPr>
          <p:cNvPr id="153" name="Connector 152"/>
          <p:cNvCxnSpPr/>
          <p:nvPr/>
        </p:nvCxnSpPr>
        <p:spPr>
          <a:xfrm>
            <a:off x="8421624" y="5029200"/>
            <a:ext cx="1728216" cy="0"/>
          </a:xfrm>
          <a:prstGeom prst="line">
            <a:avLst/>
          </a:prstGeom>
          <a:ln w="15875">
            <a:solidFill>
              <a:srgbClr val="7FA7C9"/>
            </a:solidFill>
          </a:ln>
        </p:spPr>
      </p:cxnSp>
      <p:sp>
        <p:nvSpPr>
          <p:cNvPr id="154" name="TextBox 153"/>
          <p:cNvSpPr txBox="1"/>
          <p:nvPr/>
        </p:nvSpPr>
        <p:spPr>
          <a:xfrm>
            <a:off x="8421624" y="1773936"/>
            <a:ext cx="1728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9FB0C3"/>
                </a:solidFill>
                <a:latin typeface="Calibri"/>
              </a:rPr>
              <a:t>Wire harness (8-way)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10332719" y="2103120"/>
            <a:ext cx="1399032" cy="3291840"/>
          </a:xfrm>
          <a:prstGeom prst="roundRect">
            <a:avLst>
              <a:gd name="adj" fmla="val 8000"/>
            </a:avLst>
          </a:prstGeom>
          <a:solidFill>
            <a:srgbClr val="223246"/>
          </a:solidFill>
          <a:ln w="15875">
            <a:solidFill>
              <a:srgbClr val="7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0332719" y="2103120"/>
            <a:ext cx="1399032" cy="3291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EAF0F6"/>
                </a:solidFill>
                <a:latin typeface="Calibri"/>
              </a:rPr>
              <a:t>L4</a:t>
            </a:r>
          </a:p>
          <a:p>
            <a:pPr algn="ctr"/>
            <a:r>
              <a:rPr sz="2200" b="1" i="0">
                <a:solidFill>
                  <a:srgbClr val="EAF0F6"/>
                </a:solidFill>
                <a:latin typeface="Calibri"/>
              </a:rPr>
              <a:t>Driver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457200" y="155448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172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31520" y="1783080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AF0F6"/>
                </a:solidFill>
                <a:latin typeface="Calibri"/>
              </a:rPr>
              <a:t>Layout at a glance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31520" y="2194560"/>
            <a:ext cx="28803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600"/>
              </a:spcAft>
              <a:buChar char="•"/>
            </a:pPr>
            <a:r>
              <a:rPr sz="1200" b="0" i="0">
                <a:solidFill>
                  <a:srgbClr val="9FB0C3"/>
                </a:solidFill>
                <a:latin typeface="Calibri"/>
              </a:rPr>
              <a:t>Three DRL PCBs form a C-shaped outline around the lamp opening.</a:t>
            </a:r>
          </a:p>
          <a:p>
            <a:pPr algn="l" marL="171450" indent="-171450">
              <a:spcAft>
                <a:spcPts val="600"/>
              </a:spcAft>
              <a:buChar char="•"/>
            </a:pPr>
            <a:r>
              <a:rPr sz="1200" b="0" i="0">
                <a:solidFill>
                  <a:srgbClr val="9FB0C3"/>
                </a:solidFill>
                <a:latin typeface="Calibri"/>
              </a:rPr>
              <a:t>8 LEDs per board; the string runs PCB 1 → PCB 2 → PCB 3.</a:t>
            </a:r>
          </a:p>
          <a:p>
            <a:pPr algn="l" marL="171450" indent="-171450">
              <a:spcAft>
                <a:spcPts val="600"/>
              </a:spcAft>
              <a:buChar char="•"/>
            </a:pPr>
            <a:r>
              <a:rPr sz="1200" b="0" i="0">
                <a:solidFill>
                  <a:srgbClr val="9FB0C3"/>
                </a:solidFill>
                <a:latin typeface="Calibri"/>
              </a:rPr>
              <a:t>Flex jumpers bridge both corners — no board-to-board connectors.</a:t>
            </a:r>
          </a:p>
          <a:p>
            <a:pPr algn="l" marL="171450" indent="-171450">
              <a:spcAft>
                <a:spcPts val="600"/>
              </a:spcAft>
              <a:buChar char="•"/>
            </a:pPr>
            <a:r>
              <a:rPr sz="1200" b="0" i="0">
                <a:solidFill>
                  <a:srgbClr val="9FB0C3"/>
                </a:solidFill>
                <a:latin typeface="Calibri"/>
              </a:rPr>
              <a:t>Each board's light arrows follow its own orientation: ↑, →, ↓.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31520" y="429768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AF0F6"/>
                </a:solidFill>
                <a:latin typeface="Calibri"/>
              </a:rPr>
              <a:t>Legend</a:t>
            </a:r>
          </a:p>
        </p:txBody>
      </p:sp>
      <p:sp>
        <p:nvSpPr>
          <p:cNvPr id="161" name="Isosceles Triangle 160"/>
          <p:cNvSpPr/>
          <p:nvPr/>
        </p:nvSpPr>
        <p:spPr>
          <a:xfrm rot="5400000">
            <a:off x="768096" y="4809744"/>
            <a:ext cx="201168" cy="164592"/>
          </a:xfrm>
          <a:prstGeom prst="triangle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62" name="Connector 161"/>
          <p:cNvCxnSpPr/>
          <p:nvPr/>
        </p:nvCxnSpPr>
        <p:spPr>
          <a:xfrm>
            <a:off x="950976" y="4782312"/>
            <a:ext cx="0" cy="219456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163" name="Connector 162"/>
          <p:cNvCxnSpPr/>
          <p:nvPr/>
        </p:nvCxnSpPr>
        <p:spPr>
          <a:xfrm flipV="1">
            <a:off x="818387" y="4688003"/>
            <a:ext cx="103453" cy="103452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cxnSp>
        <p:nvCxnSpPr>
          <p:cNvPr id="164" name="Connector 163"/>
          <p:cNvCxnSpPr/>
          <p:nvPr/>
        </p:nvCxnSpPr>
        <p:spPr>
          <a:xfrm flipV="1">
            <a:off x="918971" y="4688003"/>
            <a:ext cx="103453" cy="103452"/>
          </a:xfrm>
          <a:prstGeom prst="line">
            <a:avLst/>
          </a:prstGeom>
          <a:ln w="19050">
            <a:solidFill>
              <a:srgbClr val="FFD34D"/>
            </a:solidFill>
            <a:tailEnd type="triangle" w="med" len="med"/>
          </a:ln>
        </p:spPr>
      </p:cxnSp>
      <p:sp>
        <p:nvSpPr>
          <p:cNvPr id="165" name="TextBox 164"/>
          <p:cNvSpPr txBox="1"/>
          <p:nvPr/>
        </p:nvSpPr>
        <p:spPr>
          <a:xfrm>
            <a:off x="640080" y="499262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EAF0F6"/>
                </a:solidFill>
                <a:latin typeface="Calibri"/>
              </a:rPr>
              <a:t/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188719" y="477316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9FB0C3"/>
                </a:solidFill>
                <a:latin typeface="Calibri"/>
              </a:rPr>
              <a:t>LED + light</a:t>
            </a:r>
          </a:p>
        </p:txBody>
      </p:sp>
      <p:sp>
        <p:nvSpPr>
          <p:cNvPr id="167" name="Arc 166"/>
          <p:cNvSpPr/>
          <p:nvPr/>
        </p:nvSpPr>
        <p:spPr>
          <a:xfrm>
            <a:off x="2377439" y="4818888"/>
            <a:ext cx="365760" cy="365760"/>
          </a:xfrm>
          <a:prstGeom prst="arc">
            <a:avLst>
              <a:gd name="adj1" fmla="val 16200000"/>
              <a:gd name="adj2" fmla="val 21600000"/>
            </a:avLst>
          </a:prstGeom>
          <a:noFill/>
          <a:ln w="28575">
            <a:solidFill>
              <a:srgbClr val="D982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2834639" y="477316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9FB0C3"/>
                </a:solidFill>
                <a:latin typeface="Calibri"/>
              </a:rPr>
              <a:t>Flex jumper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713231" y="5321807"/>
            <a:ext cx="402336" cy="237744"/>
          </a:xfrm>
          <a:prstGeom prst="roundRect">
            <a:avLst/>
          </a:prstGeom>
          <a:solidFill>
            <a:srgbClr val="1E5C3F"/>
          </a:solidFill>
          <a:ln w="9525">
            <a:solidFill>
              <a:srgbClr val="3FA46A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0" name="Connector 169"/>
          <p:cNvCxnSpPr/>
          <p:nvPr/>
        </p:nvCxnSpPr>
        <p:spPr>
          <a:xfrm>
            <a:off x="758952" y="5440679"/>
            <a:ext cx="310896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171" name="TextBox 170"/>
          <p:cNvSpPr txBox="1"/>
          <p:nvPr/>
        </p:nvSpPr>
        <p:spPr>
          <a:xfrm>
            <a:off x="1188719" y="5321807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9FB0C3"/>
                </a:solidFill>
                <a:latin typeface="Calibri"/>
              </a:rPr>
              <a:t>PCB trace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2359152" y="5440679"/>
            <a:ext cx="310896" cy="0"/>
          </a:xfrm>
          <a:prstGeom prst="line">
            <a:avLst/>
          </a:prstGeom>
          <a:ln w="15875">
            <a:solidFill>
              <a:srgbClr val="7FA7C9"/>
            </a:solidFill>
          </a:ln>
        </p:spPr>
      </p:cxnSp>
      <p:sp>
        <p:nvSpPr>
          <p:cNvPr id="173" name="TextBox 172"/>
          <p:cNvSpPr txBox="1"/>
          <p:nvPr/>
        </p:nvSpPr>
        <p:spPr>
          <a:xfrm>
            <a:off x="2834639" y="5321807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9FB0C3"/>
                </a:solidFill>
                <a:latin typeface="Calibri"/>
              </a:rPr>
              <a:t>Harness wire</a:t>
            </a:r>
          </a:p>
        </p:txBody>
      </p:sp>
    </p:spTree>
    <p:extLst>
      <p:ext uri="{BB962C8B-B14F-4D97-AF65-F5344CB8AC3E}">
        <p14:creationId xmlns:p14="http://schemas.microsoft.com/office/powerpoint/2010/main" val="3194128743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AF0F6"/>
                </a:solidFill>
                <a:latin typeface="Calibri"/>
              </a:rPr>
              <a:t>Why This PCB Architecture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FB0C3"/>
                </a:solidFill>
                <a:latin typeface="Calibri"/>
              </a:rPr>
              <a:t>Design rationale, reliability, and how the layout supports EMI/EMC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D34D"/>
                </a:solidFill>
                <a:latin typeface="Calibri"/>
              </a:rPr>
              <a:t>Design justification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847088"/>
            <a:ext cx="420624" cy="420624"/>
          </a:xfrm>
          <a:prstGeom prst="ellipse">
            <a:avLst/>
          </a:prstGeom>
          <a:solidFill>
            <a:srgbClr val="1E5C3F"/>
          </a:solidFill>
          <a:ln w="19050">
            <a:solidFill>
              <a:srgbClr val="3FA4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4708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EAF0F6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0F6"/>
                </a:solidFill>
                <a:latin typeface="Calibri"/>
              </a:rPr>
              <a:t>Modular rigid boards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21408"/>
            <a:ext cx="4846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FB0C3"/>
                </a:solidFill>
                <a:latin typeface="Calibri"/>
              </a:rPr>
              <a:t>Three straight PCBs follow the lamp contour, so panels nest efficiently. The head-lamp pair reuses one outline, which cuts tooling and part count.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788920"/>
            <a:ext cx="420624" cy="420624"/>
          </a:xfrm>
          <a:prstGeom prst="ellipse">
            <a:avLst/>
          </a:prstGeom>
          <a:solidFill>
            <a:srgbClr val="1E5C3F"/>
          </a:solidFill>
          <a:ln w="19050">
            <a:solidFill>
              <a:srgbClr val="3FA4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EAF0F6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706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0F6"/>
                </a:solidFill>
                <a:latin typeface="Calibri"/>
              </a:rPr>
              <a:t>Flex jumpers, not connectors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63240"/>
            <a:ext cx="4846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FB0C3"/>
                </a:solidFill>
                <a:latin typeface="Calibri"/>
              </a:rPr>
              <a:t>Polyimide flex removes crimps and board-to-board headers. Fewer contacts improve vibration and thermal-cycle reliability (ISO 16750-3) and let the module fold into the housing.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730752"/>
            <a:ext cx="420624" cy="420624"/>
          </a:xfrm>
          <a:prstGeom prst="ellipse">
            <a:avLst/>
          </a:prstGeom>
          <a:solidFill>
            <a:srgbClr val="1E5C3F"/>
          </a:solidFill>
          <a:ln w="19050">
            <a:solidFill>
              <a:srgbClr val="3FA4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3075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EAF0F6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1246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0F6"/>
                </a:solidFill>
                <a:latin typeface="Calibri"/>
              </a:rPr>
              <a:t>Series LED string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05072"/>
            <a:ext cx="4846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FB0C3"/>
                </a:solidFill>
                <a:latin typeface="Calibri"/>
              </a:rPr>
              <a:t>Every LED carries the same current, so luminance and colour stay uniform across all three boards. The driver regulates one current, and no ballast resistors are needed.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672584"/>
            <a:ext cx="420624" cy="420624"/>
          </a:xfrm>
          <a:prstGeom prst="ellipse">
            <a:avLst/>
          </a:prstGeom>
          <a:solidFill>
            <a:srgbClr val="1E5C3F"/>
          </a:solidFill>
          <a:ln w="19050">
            <a:solidFill>
              <a:srgbClr val="3FA4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67258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EAF0F6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5429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F0F6"/>
                </a:solidFill>
                <a:latin typeface="Calibri"/>
              </a:rPr>
              <a:t>Distributed thermal 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946904"/>
            <a:ext cx="4846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FB0C3"/>
                </a:solidFill>
                <a:latin typeface="Calibri"/>
              </a:rPr>
              <a:t>24 LEDs spread over three boards keep power density low. Copper pours and thermal vias lower Tj, which protects lumen maintenance and LED life.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371600"/>
            <a:ext cx="5468112" cy="4160520"/>
          </a:xfrm>
          <a:prstGeom prst="roundRect">
            <a:avLst>
              <a:gd name="adj" fmla="val 4000"/>
            </a:avLst>
          </a:prstGeom>
          <a:solidFill>
            <a:srgbClr val="172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59" y="1572768"/>
            <a:ext cx="49194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D34D"/>
                </a:solidFill>
                <a:latin typeface="Calibri"/>
              </a:rPr>
              <a:t>Why EMI / EMC compliance is met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2029967"/>
            <a:ext cx="4919472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700"/>
              </a:spcAft>
              <a:buClr>
                <a:srgbClr val="FFD34D"/>
              </a:buClr>
              <a:buChar char="•"/>
            </a:pPr>
            <a:r>
              <a:rPr sz="1100" b="1" i="0">
                <a:solidFill>
                  <a:srgbClr val="EAF0F6"/>
                </a:solidFill>
                <a:latin typeface="Calibri"/>
              </a:rPr>
              <a:t>Noise source kept off the lamp boards. </a:t>
            </a:r>
            <a:r>
              <a:rPr sz="1100" b="0" i="0">
                <a:solidFill>
                  <a:srgbClr val="9FB0C3"/>
                </a:solidFill>
                <a:latin typeface="Calibri"/>
              </a:rPr>
              <a:t>The switching L4 driver sits on its own board, so the long DRL PCBs carry only DC LED current and have no high dv/dt nodes to radiate.</a:t>
            </a:r>
          </a:p>
          <a:p>
            <a:pPr algn="l" marL="171450" indent="-171450">
              <a:spcAft>
                <a:spcPts val="700"/>
              </a:spcAft>
              <a:buClr>
                <a:srgbClr val="FFD34D"/>
              </a:buClr>
              <a:buChar char="•"/>
            </a:pPr>
            <a:r>
              <a:rPr sz="1100" b="1" i="0">
                <a:solidFill>
                  <a:srgbClr val="EAF0F6"/>
                </a:solidFill>
                <a:latin typeface="Calibri"/>
              </a:rPr>
              <a:t>Small current loops. </a:t>
            </a:r>
            <a:r>
              <a:rPr sz="1100" b="0" i="0">
                <a:solidFill>
                  <a:srgbClr val="9FB0C3"/>
                </a:solidFill>
                <a:latin typeface="Calibri"/>
              </a:rPr>
              <a:t>Supply and return run as adjacent pairs in the harness and flex, which minimises loop area and cuts both radiated emissions and pickup.</a:t>
            </a:r>
          </a:p>
          <a:p>
            <a:pPr algn="l" marL="171450" indent="-171450">
              <a:spcAft>
                <a:spcPts val="700"/>
              </a:spcAft>
              <a:buClr>
                <a:srgbClr val="FFD34D"/>
              </a:buClr>
              <a:buChar char="•"/>
            </a:pPr>
            <a:r>
              <a:rPr sz="1100" b="1" i="0">
                <a:solidFill>
                  <a:srgbClr val="EAF0F6"/>
                </a:solidFill>
                <a:latin typeface="Calibri"/>
              </a:rPr>
              <a:t>Solid reference plane. </a:t>
            </a:r>
            <a:r>
              <a:rPr sz="1100" b="0" i="0">
                <a:solidFill>
                  <a:srgbClr val="9FB0C3"/>
                </a:solidFill>
                <a:latin typeface="Calibri"/>
              </a:rPr>
              <a:t>Each rigid PCB has an unbroken ground pour with stitching vias along its edges, so no return current crosses a slot.</a:t>
            </a:r>
          </a:p>
          <a:p>
            <a:pPr algn="l" marL="171450" indent="-171450">
              <a:spcAft>
                <a:spcPts val="700"/>
              </a:spcAft>
              <a:buClr>
                <a:srgbClr val="FFD34D"/>
              </a:buClr>
              <a:buChar char="•"/>
            </a:pPr>
            <a:r>
              <a:rPr sz="1100" b="1" i="0">
                <a:solidFill>
                  <a:srgbClr val="EAF0F6"/>
                </a:solidFill>
                <a:latin typeface="Calibri"/>
              </a:rPr>
              <a:t>Filtered and dithered driver. </a:t>
            </a:r>
            <a:r>
              <a:rPr sz="1100" b="0" i="0">
                <a:solidFill>
                  <a:srgbClr val="9FB0C3"/>
                </a:solidFill>
                <a:latin typeface="Calibri"/>
              </a:rPr>
              <a:t>Input π-filter with CM choke, spread-spectrum switching and slew-rate controlled PWM dimming lower peaks in the CISPR 25 AM/FM bands.</a:t>
            </a:r>
          </a:p>
          <a:p>
            <a:pPr algn="l" marL="171450" indent="-171450">
              <a:spcAft>
                <a:spcPts val="700"/>
              </a:spcAft>
              <a:buClr>
                <a:srgbClr val="FFD34D"/>
              </a:buClr>
              <a:buChar char="•"/>
            </a:pPr>
            <a:r>
              <a:rPr sz="1100" b="1" i="0">
                <a:solidFill>
                  <a:srgbClr val="EAF0F6"/>
                </a:solidFill>
                <a:latin typeface="Calibri"/>
              </a:rPr>
              <a:t>Protected entry points. </a:t>
            </a:r>
            <a:r>
              <a:rPr sz="1100" b="0" i="0">
                <a:solidFill>
                  <a:srgbClr val="9FB0C3"/>
                </a:solidFill>
                <a:latin typeface="Calibri"/>
              </a:rPr>
              <a:t>TVS and 100 nF/1 nF decoupling at each connector absorb ESD and load-dump transients before they reach the LEDs.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509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FB0C3"/>
                </a:solidFill>
                <a:latin typeface="Calibri"/>
              </a:rPr>
              <a:t>Target standards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943600"/>
            <a:ext cx="2145182" cy="621792"/>
          </a:xfrm>
          <a:prstGeom prst="roundRect">
            <a:avLst>
              <a:gd name="adj" fmla="val 12000"/>
            </a:avLst>
          </a:prstGeom>
          <a:solidFill>
            <a:srgbClr val="1D2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971032"/>
            <a:ext cx="187086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EAF0F6"/>
                </a:solidFill>
                <a:latin typeface="Calibri"/>
              </a:rPr>
              <a:t>UN ECE R10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254496"/>
            <a:ext cx="187086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FB0C3"/>
                </a:solidFill>
                <a:latin typeface="Calibri"/>
              </a:rPr>
              <a:t>Vehicle EMC approval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39542" y="5943600"/>
            <a:ext cx="2145182" cy="621792"/>
          </a:xfrm>
          <a:prstGeom prst="roundRect">
            <a:avLst>
              <a:gd name="adj" fmla="val 12000"/>
            </a:avLst>
          </a:prstGeom>
          <a:solidFill>
            <a:srgbClr val="1D2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76702" y="5971032"/>
            <a:ext cx="187086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EAF0F6"/>
                </a:solidFill>
                <a:latin typeface="Calibri"/>
              </a:rPr>
              <a:t>CISPR 25 Cl.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76702" y="6254496"/>
            <a:ext cx="187086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FB0C3"/>
                </a:solidFill>
                <a:latin typeface="Calibri"/>
              </a:rPr>
              <a:t>RF emissions (CE / RE)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1884" y="5943600"/>
            <a:ext cx="2145182" cy="621792"/>
          </a:xfrm>
          <a:prstGeom prst="roundRect">
            <a:avLst>
              <a:gd name="adj" fmla="val 12000"/>
            </a:avLst>
          </a:prstGeom>
          <a:solidFill>
            <a:srgbClr val="1D2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59044" y="5971032"/>
            <a:ext cx="187086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EAF0F6"/>
                </a:solidFill>
                <a:latin typeface="Calibri"/>
              </a:rPr>
              <a:t>ISO 11452-2/-4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59044" y="6254496"/>
            <a:ext cx="187086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FB0C3"/>
                </a:solidFill>
                <a:latin typeface="Calibri"/>
              </a:rPr>
              <a:t>RF immunity (ALSE, BCI)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04227" y="5943600"/>
            <a:ext cx="2145182" cy="621792"/>
          </a:xfrm>
          <a:prstGeom prst="roundRect">
            <a:avLst>
              <a:gd name="adj" fmla="val 12000"/>
            </a:avLst>
          </a:prstGeom>
          <a:solidFill>
            <a:srgbClr val="1D2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1387" y="5971032"/>
            <a:ext cx="187086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EAF0F6"/>
                </a:solidFill>
                <a:latin typeface="Calibri"/>
              </a:rPr>
              <a:t>ISO 7637-2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41387" y="6254496"/>
            <a:ext cx="187086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FB0C3"/>
                </a:solidFill>
                <a:latin typeface="Calibri"/>
              </a:rPr>
              <a:t>Supply-line transients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86569" y="5943600"/>
            <a:ext cx="2145182" cy="621792"/>
          </a:xfrm>
          <a:prstGeom prst="roundRect">
            <a:avLst>
              <a:gd name="adj" fmla="val 12000"/>
            </a:avLst>
          </a:prstGeom>
          <a:solidFill>
            <a:srgbClr val="1D2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23729" y="5971032"/>
            <a:ext cx="187086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EAF0F6"/>
                </a:solidFill>
                <a:latin typeface="Calibri"/>
              </a:rPr>
              <a:t>ISO 10605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3729" y="6254496"/>
            <a:ext cx="187086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FB0C3"/>
                </a:solidFill>
                <a:latin typeface="Calibri"/>
              </a:rPr>
              <a:t>ESD ±8 kV / ±15 kV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31C8F9A-4AE3-4B81-9643-43ABC2751075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aa956a96-5478-4293-899b-25d27878256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27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Rosario Jean</dc:creator>
  <cp:lastModifiedBy>Rosario Jean</cp:lastModifiedBy>
  <cp:revision>1</cp:revision>
  <dcterms:created xsi:type="dcterms:W3CDTF">2026-09-30T06:21:23Z</dcterms:created>
  <dcterms:modified xsi:type="dcterms:W3CDTF">2026-09-30T07:08:19Z</dcterms:modified>
</cp:coreProperties>
</file>