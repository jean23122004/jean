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F0BED-7D08-AE4E-EECD-F345808A49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B8D0-E788-8A82-6B11-0CC2789B3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D596D-97E7-CDA7-F8F9-E38AC567E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6BDEC-7BBB-F24C-44A7-F0E7A6FE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4EE7F-E5F8-BAED-04F9-FE305A30A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9137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95C4-D987-3535-0513-E3B30524F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174C2-C54E-A7AC-D621-DFD05A6FD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44F14-CD1E-E422-CB6E-E12A39D3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05E19-C6DE-A7EA-B7DD-61DE584F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F4AD0-0F81-B2BF-CAD4-2BE6A1249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53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95238-9F42-D3DB-AD7D-B96DF870C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AD8AA-79B0-AB1D-C6DB-AA2ABD5D6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6D771-7F30-B2AF-B0FC-2F8E94C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A079F-BFB3-651C-7515-9D27D1844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3843A-9EC4-5DE2-2DA3-E2AAFD19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4992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D07F-3346-6CD6-E273-24A11DFF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879C-78B5-B778-452A-B75A59A3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AA4788-B8F1-81F5-416E-86B1388E1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BE17A-FFCF-B3D8-68BE-B05BF01EC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2C247-1219-9255-D389-CD89827B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2677B-A074-1AB5-D35D-05D6D3D2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530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6761-97A2-522C-B9CA-23FDBCE1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8456C-FBAB-82A9-D6CF-6A2B352B9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0D36F9-3E32-C28C-A8B9-88DAF16B3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7E8BF-59ED-5CCB-6457-452837E515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D96C1-4767-E846-7DAF-43E8C98CD6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62B07-7A9E-5DCB-C3B4-7AD28A020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D203F-7737-B702-70A7-3407BDAD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6F6117-C39D-F846-0D2E-3D116BA41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654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C133A-7BA4-8A5B-5677-348289816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BB75B8-7F52-B45A-D298-B2BE79ECE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2CC1D6-2219-A1D7-0725-2F0DB9B0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CC09BC-AEEA-8B39-31F8-7A315990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257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72D62-895F-20D0-1CFB-1C94A1EBD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6C12F8-DA2D-F5E4-C3CB-1CD792AE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7C24-93D9-2B67-42D8-121D3EDD2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88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86221-6469-0C52-EF30-04702528E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A9B61-7E74-7951-337C-3F135FFE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E8F36-C2E1-36C3-0BB6-048AAAF5ED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B4A73-5988-3B62-0609-761F699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824DA-8D7F-4E20-0717-1EC047B33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FD0C7E-EF09-2E8C-82BE-065BF0204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10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EAAC3-A7DF-2506-56F7-477C66C43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D43BD-BF89-5F7B-9E4C-3034A59278F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3A3E0-4D0A-3A69-5D23-EAFB393AB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287E47-FEED-1FDF-9CFF-BBDA169E2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AF032-DD9C-9D2F-1385-EEE034E02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3EF83-4565-A5B6-A701-C43EAF04D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4488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6E1CA-C29B-DAA3-1178-31DB166B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8D7FA-AD2B-7444-E708-56B890CD0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D91CD-3750-D728-9833-228B97F5D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5ED84-AFA9-BA15-D82A-BD2335803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98E-92EE-05BF-9770-B6C943A8F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9976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359A06-C6F6-0947-1512-3A15504122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23E5F-534E-9AB8-E0F1-7D12DF3A0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73F59-E059-FDA2-0B62-580A99D0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86175-A72B-6073-ECB9-B82871ED2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4ABD5-C2FC-1682-0EB5-7D5E0C7C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076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A443FF-0A55-75BE-78D5-2117960EE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FEB1E7-8554-AC9B-1E68-A80660B53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D2A7A-256D-A7AD-9E4A-8DB0EB9659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19A06-1077-B7CE-C817-21EB0F75C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BA98F5-E899-EE8D-03B4-F14E2B9FE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68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Lighting Module — PCB Arrangement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Two interlocking head-lamp PCBs frame a central logo PCB inside the lamp housing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4208754" cy="5007071"/>
          </a:xfrm>
          <a:prstGeom prst="roundRect">
            <a:avLst>
              <a:gd name="adj" fmla="val 3000"/>
            </a:avLst>
          </a:prstGeom>
          <a:solidFill>
            <a:srgbClr val="15202C"/>
          </a:solidFill>
          <a:ln w="1905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825416" y="1632204"/>
            <a:ext cx="2882280" cy="3814373"/>
          </a:xfrm>
          <a:custGeom>
            <a:avLst/>
            <a:gdLst/>
            <a:ahLst/>
            <a:cxnLst/>
            <a:rect l="l" t="t" r="r" b="b"/>
            <a:pathLst>
              <a:path w="2882280" h="3814373">
                <a:moveTo>
                  <a:pt x="0" y="0"/>
                </a:moveTo>
                <a:lnTo>
                  <a:pt x="2882280" y="0"/>
                </a:lnTo>
                <a:lnTo>
                  <a:pt x="2882280" y="3814373"/>
                </a:lnTo>
                <a:lnTo>
                  <a:pt x="0" y="3814373"/>
                </a:lnTo>
                <a:lnTo>
                  <a:pt x="0" y="3356579"/>
                </a:lnTo>
                <a:lnTo>
                  <a:pt x="2424486" y="3356579"/>
                </a:lnTo>
                <a:lnTo>
                  <a:pt x="2424486" y="458663"/>
                </a:lnTo>
                <a:lnTo>
                  <a:pt x="0" y="458663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170432" y="2264603"/>
            <a:ext cx="2882280" cy="3813505"/>
          </a:xfrm>
          <a:custGeom>
            <a:avLst/>
            <a:gdLst/>
            <a:ahLst/>
            <a:cxnLst/>
            <a:rect l="l" t="t" r="r" b="b"/>
            <a:pathLst>
              <a:path w="2882280" h="3813505">
                <a:moveTo>
                  <a:pt x="0" y="0"/>
                </a:moveTo>
                <a:lnTo>
                  <a:pt x="2882280" y="0"/>
                </a:lnTo>
                <a:lnTo>
                  <a:pt x="2882280" y="457794"/>
                </a:lnTo>
                <a:lnTo>
                  <a:pt x="457794" y="457794"/>
                </a:lnTo>
                <a:lnTo>
                  <a:pt x="457794" y="3355710"/>
                </a:lnTo>
                <a:lnTo>
                  <a:pt x="2882280" y="3355710"/>
                </a:lnTo>
                <a:lnTo>
                  <a:pt x="2882280" y="3813505"/>
                </a:lnTo>
                <a:lnTo>
                  <a:pt x="0" y="3813505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solidFill>
            <a:srgbClr val="234B78"/>
          </a:solidFill>
          <a:ln w="1905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9" name="TextBox 8"/>
          <p:cNvSpPr txBox="1"/>
          <p:nvPr/>
        </p:nvSpPr>
        <p:spPr>
          <a:xfrm rot="5400000">
            <a:off x="3290079" y="33543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210609" y="39884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0311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FB0C3"/>
                </a:solidFill>
                <a:latin typeface="Calibri"/>
              </a:rPr>
              <a:t>Lamp housing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371600"/>
            <a:ext cx="5925312" cy="5010912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72200" y="1783080"/>
            <a:ext cx="411480" cy="411480"/>
          </a:xfrm>
          <a:prstGeom prst="ellipse">
            <a:avLst/>
          </a:prstGeom>
          <a:solidFill>
            <a:srgbClr val="1E5C3F"/>
          </a:solidFill>
          <a:ln w="2540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79" y="173736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Head Lamp PCB  ×2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2084831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Two C-shaped boards interleave around the centre. Each wraps three sides, so together they trace a continuous light contour.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2971800"/>
            <a:ext cx="411480" cy="411480"/>
          </a:xfrm>
          <a:prstGeom prst="ellipse">
            <a:avLst/>
          </a:prstGeom>
          <a:solidFill>
            <a:srgbClr val="234B78"/>
          </a:solidFill>
          <a:ln w="2540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79" y="292608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27355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Central board dedicated to the illuminated logo, set off from both head-lamp boards by a uniform clearance gap.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4160520"/>
            <a:ext cx="411480" cy="411480"/>
          </a:xfrm>
          <a:prstGeom prst="ellipse">
            <a:avLst/>
          </a:prstGeom>
          <a:solidFill>
            <a:srgbClr val="15202C"/>
          </a:solidFill>
          <a:ln w="2540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79" y="411480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Lamp housing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46227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The outer frame nests all three boards with even clearance for assembly tolerance and thermal expansion.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321807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79" y="5394959"/>
            <a:ext cx="48280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D34D"/>
                </a:solidFill>
                <a:latin typeface="Calibri"/>
              </a:rPr>
              <a:t>One outline, used twice.  </a:t>
            </a:r>
            <a:r>
              <a:rPr sz="1200" b="0" i="0">
                <a:solidFill>
                  <a:srgbClr val="EAF0F6"/>
                </a:solidFill>
                <a:latin typeface="Calibri"/>
              </a:rPr>
              <a:t>The two head-lamp PCBs share the same shape rotated 180°: one part number, one panel design, one stencil.</a:t>
            </a:r>
          </a:p>
        </p:txBody>
      </p:sp>
    </p:spTree>
    <p:extLst>
      <p:ext uri="{BB962C8B-B14F-4D97-AF65-F5344CB8AC3E}">
        <p14:creationId xmlns:p14="http://schemas.microsoft.com/office/powerpoint/2010/main" val="243685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DRL Module — LED Layout &amp; Interconnect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Eight LEDs on each DRL PCB, with light-emission arrows rotated to each board's orientation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55448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0" y="2103120"/>
            <a:ext cx="548640" cy="32918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539496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617720" y="1828800"/>
            <a:ext cx="3063240" cy="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955280" y="2103120"/>
            <a:ext cx="0" cy="329184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617720" y="5669280"/>
            <a:ext cx="3063240" cy="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544568" y="162763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44568" y="193852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4568" y="546811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44568" y="577900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7543800" y="1965960"/>
            <a:ext cx="274320" cy="27432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c 14"/>
          <p:cNvSpPr/>
          <p:nvPr/>
        </p:nvSpPr>
        <p:spPr>
          <a:xfrm>
            <a:off x="7543800" y="5257800"/>
            <a:ext cx="274320" cy="27432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7406640" y="1828799"/>
            <a:ext cx="548640" cy="54864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7406640" y="5120640"/>
            <a:ext cx="548640" cy="54864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7269480" y="1691639"/>
            <a:ext cx="822960" cy="8229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7269480" y="4983480"/>
            <a:ext cx="822960" cy="82296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515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5400000">
            <a:off x="470001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88289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23" name="Connector 22"/>
          <p:cNvCxnSpPr/>
          <p:nvPr/>
        </p:nvCxnSpPr>
        <p:spPr>
          <a:xfrm flipH="1" flipV="1">
            <a:off x="464685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 flipH="1" flipV="1">
            <a:off x="474743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45720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26" name="Oval 25"/>
          <p:cNvSpPr/>
          <p:nvPr/>
        </p:nvSpPr>
        <p:spPr>
          <a:xfrm>
            <a:off x="501091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5400000">
            <a:off x="506577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24865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29" name="Connector 28"/>
          <p:cNvCxnSpPr/>
          <p:nvPr/>
        </p:nvCxnSpPr>
        <p:spPr>
          <a:xfrm flipH="1" flipV="1">
            <a:off x="501261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0" name="Connector 29"/>
          <p:cNvCxnSpPr/>
          <p:nvPr/>
        </p:nvCxnSpPr>
        <p:spPr>
          <a:xfrm flipH="1" flipV="1">
            <a:off x="511319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49377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32" name="Oval 31"/>
          <p:cNvSpPr/>
          <p:nvPr/>
        </p:nvSpPr>
        <p:spPr>
          <a:xfrm>
            <a:off x="537667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 rot="5400000">
            <a:off x="543153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61441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35" name="Connector 34"/>
          <p:cNvCxnSpPr/>
          <p:nvPr/>
        </p:nvCxnSpPr>
        <p:spPr>
          <a:xfrm flipH="1" flipV="1">
            <a:off x="537837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6" name="Connector 35"/>
          <p:cNvCxnSpPr/>
          <p:nvPr/>
        </p:nvCxnSpPr>
        <p:spPr>
          <a:xfrm flipH="1" flipV="1">
            <a:off x="547895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53035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38" name="Oval 37"/>
          <p:cNvSpPr/>
          <p:nvPr/>
        </p:nvSpPr>
        <p:spPr>
          <a:xfrm>
            <a:off x="574243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 rot="5400000">
            <a:off x="579729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98017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41" name="Connector 40"/>
          <p:cNvCxnSpPr/>
          <p:nvPr/>
        </p:nvCxnSpPr>
        <p:spPr>
          <a:xfrm flipH="1" flipV="1">
            <a:off x="574413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 flipH="1" flipV="1">
            <a:off x="584471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566928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44" name="Oval 43"/>
          <p:cNvSpPr/>
          <p:nvPr/>
        </p:nvSpPr>
        <p:spPr>
          <a:xfrm>
            <a:off x="610819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6163055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34593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47" name="Connector 46"/>
          <p:cNvCxnSpPr/>
          <p:nvPr/>
        </p:nvCxnSpPr>
        <p:spPr>
          <a:xfrm flipH="1" flipV="1">
            <a:off x="610989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 flipH="1" flipV="1">
            <a:off x="6210479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603504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50" name="Oval 49"/>
          <p:cNvSpPr/>
          <p:nvPr/>
        </p:nvSpPr>
        <p:spPr>
          <a:xfrm>
            <a:off x="647395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652881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71169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 flipV="1">
            <a:off x="647565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54" name="Connector 53"/>
          <p:cNvCxnSpPr/>
          <p:nvPr/>
        </p:nvCxnSpPr>
        <p:spPr>
          <a:xfrm flipH="1" flipV="1">
            <a:off x="657623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64008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56" name="Oval 55"/>
          <p:cNvSpPr/>
          <p:nvPr/>
        </p:nvSpPr>
        <p:spPr>
          <a:xfrm>
            <a:off x="683971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Isosceles Triangle 56"/>
          <p:cNvSpPr/>
          <p:nvPr/>
        </p:nvSpPr>
        <p:spPr>
          <a:xfrm rot="5400000">
            <a:off x="689457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707745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59" name="Connector 58"/>
          <p:cNvCxnSpPr/>
          <p:nvPr/>
        </p:nvCxnSpPr>
        <p:spPr>
          <a:xfrm flipH="1" flipV="1">
            <a:off x="684141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0" name="Connector 59"/>
          <p:cNvCxnSpPr/>
          <p:nvPr/>
        </p:nvCxnSpPr>
        <p:spPr>
          <a:xfrm flipH="1" flipV="1">
            <a:off x="694199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1" name="TextBox 60"/>
          <p:cNvSpPr txBox="1"/>
          <p:nvPr/>
        </p:nvSpPr>
        <p:spPr>
          <a:xfrm>
            <a:off x="67665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62" name="Oval 61"/>
          <p:cNvSpPr/>
          <p:nvPr/>
        </p:nvSpPr>
        <p:spPr>
          <a:xfrm>
            <a:off x="720547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Isosceles Triangle 62"/>
          <p:cNvSpPr/>
          <p:nvPr/>
        </p:nvSpPr>
        <p:spPr>
          <a:xfrm rot="5400000">
            <a:off x="726033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44321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65" name="Connector 64"/>
          <p:cNvCxnSpPr/>
          <p:nvPr/>
        </p:nvCxnSpPr>
        <p:spPr>
          <a:xfrm flipH="1" flipV="1">
            <a:off x="7207175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6" name="Connector 65"/>
          <p:cNvCxnSpPr/>
          <p:nvPr/>
        </p:nvCxnSpPr>
        <p:spPr>
          <a:xfrm flipH="1" flipV="1">
            <a:off x="7307759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7" name="TextBox 66"/>
          <p:cNvSpPr txBox="1"/>
          <p:nvPr/>
        </p:nvSpPr>
        <p:spPr>
          <a:xfrm>
            <a:off x="71323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68" name="Oval 67"/>
          <p:cNvSpPr/>
          <p:nvPr/>
        </p:nvSpPr>
        <p:spPr>
          <a:xfrm>
            <a:off x="7909560" y="231343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Isosceles Triangle 68"/>
          <p:cNvSpPr/>
          <p:nvPr/>
        </p:nvSpPr>
        <p:spPr>
          <a:xfrm rot="10800000">
            <a:off x="7854696" y="23865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7845552" y="255117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71" name="Connector 70"/>
          <p:cNvCxnSpPr/>
          <p:nvPr/>
        </p:nvCxnSpPr>
        <p:spPr>
          <a:xfrm flipV="1">
            <a:off x="8055864" y="23151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2" name="Connector 71"/>
          <p:cNvCxnSpPr/>
          <p:nvPr/>
        </p:nvCxnSpPr>
        <p:spPr>
          <a:xfrm flipV="1">
            <a:off x="8055864" y="24157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7552944" y="23957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74" name="Oval 73"/>
          <p:cNvSpPr/>
          <p:nvPr/>
        </p:nvSpPr>
        <p:spPr>
          <a:xfrm>
            <a:off x="7909560" y="267919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 rot="10800000">
            <a:off x="7854696" y="275234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7845552" y="291693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8055864" y="26808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8055864" y="27814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552944" y="27614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80" name="Oval 79"/>
          <p:cNvSpPr/>
          <p:nvPr/>
        </p:nvSpPr>
        <p:spPr>
          <a:xfrm>
            <a:off x="7909560" y="304495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 rot="10800000">
            <a:off x="7854696" y="31181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H="1">
            <a:off x="7845552" y="328269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83" name="Connector 82"/>
          <p:cNvCxnSpPr/>
          <p:nvPr/>
        </p:nvCxnSpPr>
        <p:spPr>
          <a:xfrm flipV="1">
            <a:off x="8055864" y="30466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84" name="Connector 83"/>
          <p:cNvCxnSpPr/>
          <p:nvPr/>
        </p:nvCxnSpPr>
        <p:spPr>
          <a:xfrm flipV="1">
            <a:off x="8055864" y="31472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85" name="TextBox 84"/>
          <p:cNvSpPr txBox="1"/>
          <p:nvPr/>
        </p:nvSpPr>
        <p:spPr>
          <a:xfrm>
            <a:off x="755294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86" name="Oval 85"/>
          <p:cNvSpPr/>
          <p:nvPr/>
        </p:nvSpPr>
        <p:spPr>
          <a:xfrm>
            <a:off x="7909560" y="341071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 rot="10800000">
            <a:off x="7854696" y="348386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7845552" y="364845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89" name="Connector 88"/>
          <p:cNvCxnSpPr/>
          <p:nvPr/>
        </p:nvCxnSpPr>
        <p:spPr>
          <a:xfrm flipV="1">
            <a:off x="8055864" y="341241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0" name="Connector 89"/>
          <p:cNvCxnSpPr/>
          <p:nvPr/>
        </p:nvCxnSpPr>
        <p:spPr>
          <a:xfrm flipV="1">
            <a:off x="8055864" y="351299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1" name="TextBox 90"/>
          <p:cNvSpPr txBox="1"/>
          <p:nvPr/>
        </p:nvSpPr>
        <p:spPr>
          <a:xfrm>
            <a:off x="7552944" y="349300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92" name="Oval 91"/>
          <p:cNvSpPr/>
          <p:nvPr/>
        </p:nvSpPr>
        <p:spPr>
          <a:xfrm>
            <a:off x="7909560" y="377647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Isosceles Triangle 92"/>
          <p:cNvSpPr/>
          <p:nvPr/>
        </p:nvSpPr>
        <p:spPr>
          <a:xfrm rot="10800000">
            <a:off x="7854696" y="384962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H="1">
            <a:off x="7845552" y="401421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8055864" y="377817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6" name="Connector 95"/>
          <p:cNvCxnSpPr/>
          <p:nvPr/>
        </p:nvCxnSpPr>
        <p:spPr>
          <a:xfrm flipV="1">
            <a:off x="8055864" y="387875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7" name="TextBox 96"/>
          <p:cNvSpPr txBox="1"/>
          <p:nvPr/>
        </p:nvSpPr>
        <p:spPr>
          <a:xfrm>
            <a:off x="7552944" y="385876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98" name="Oval 97"/>
          <p:cNvSpPr/>
          <p:nvPr/>
        </p:nvSpPr>
        <p:spPr>
          <a:xfrm>
            <a:off x="7909560" y="414223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Isosceles Triangle 98"/>
          <p:cNvSpPr/>
          <p:nvPr/>
        </p:nvSpPr>
        <p:spPr>
          <a:xfrm rot="10800000">
            <a:off x="7854696" y="42153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H="1">
            <a:off x="7845552" y="437997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8055864" y="41439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8055864" y="42445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3" name="TextBox 102"/>
          <p:cNvSpPr txBox="1"/>
          <p:nvPr/>
        </p:nvSpPr>
        <p:spPr>
          <a:xfrm>
            <a:off x="7552944" y="42245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104" name="Oval 103"/>
          <p:cNvSpPr/>
          <p:nvPr/>
        </p:nvSpPr>
        <p:spPr>
          <a:xfrm>
            <a:off x="7909560" y="450799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Isosceles Triangle 104"/>
          <p:cNvSpPr/>
          <p:nvPr/>
        </p:nvSpPr>
        <p:spPr>
          <a:xfrm rot="10800000">
            <a:off x="7854696" y="458114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H="1">
            <a:off x="7845552" y="474573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V="1">
            <a:off x="8055864" y="45096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8" name="Connector 107"/>
          <p:cNvCxnSpPr/>
          <p:nvPr/>
        </p:nvCxnSpPr>
        <p:spPr>
          <a:xfrm flipV="1">
            <a:off x="8055864" y="46102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9" name="TextBox 108"/>
          <p:cNvSpPr txBox="1"/>
          <p:nvPr/>
        </p:nvSpPr>
        <p:spPr>
          <a:xfrm>
            <a:off x="7552944" y="45902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110" name="Oval 109"/>
          <p:cNvSpPr/>
          <p:nvPr/>
        </p:nvSpPr>
        <p:spPr>
          <a:xfrm>
            <a:off x="7909560" y="487375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7854696" y="49469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H="1">
            <a:off x="7845552" y="511149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13" name="Connector 112"/>
          <p:cNvCxnSpPr/>
          <p:nvPr/>
        </p:nvCxnSpPr>
        <p:spPr>
          <a:xfrm flipV="1">
            <a:off x="8055864" y="48754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14" name="Connector 113"/>
          <p:cNvCxnSpPr/>
          <p:nvPr/>
        </p:nvCxnSpPr>
        <p:spPr>
          <a:xfrm flipV="1">
            <a:off x="8055864" y="49760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15" name="TextBox 114"/>
          <p:cNvSpPr txBox="1"/>
          <p:nvPr/>
        </p:nvSpPr>
        <p:spPr>
          <a:xfrm>
            <a:off x="7552944" y="49560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16" name="Oval 115"/>
          <p:cNvSpPr/>
          <p:nvPr/>
        </p:nvSpPr>
        <p:spPr>
          <a:xfrm>
            <a:off x="720547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Isosceles Triangle 116"/>
          <p:cNvSpPr/>
          <p:nvPr/>
        </p:nvSpPr>
        <p:spPr>
          <a:xfrm rot="16200000">
            <a:off x="726033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727862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19" name="Connector 118"/>
          <p:cNvCxnSpPr/>
          <p:nvPr/>
        </p:nvCxnSpPr>
        <p:spPr>
          <a:xfrm>
            <a:off x="741121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0" name="Connector 119"/>
          <p:cNvCxnSpPr/>
          <p:nvPr/>
        </p:nvCxnSpPr>
        <p:spPr>
          <a:xfrm>
            <a:off x="731062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1" name="TextBox 120"/>
          <p:cNvSpPr txBox="1"/>
          <p:nvPr/>
        </p:nvSpPr>
        <p:spPr>
          <a:xfrm>
            <a:off x="71323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122" name="Oval 121"/>
          <p:cNvSpPr/>
          <p:nvPr/>
        </p:nvSpPr>
        <p:spPr>
          <a:xfrm>
            <a:off x="683971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Isosceles Triangle 122"/>
          <p:cNvSpPr/>
          <p:nvPr/>
        </p:nvSpPr>
        <p:spPr>
          <a:xfrm rot="16200000">
            <a:off x="689457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691286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25" name="Connector 124"/>
          <p:cNvCxnSpPr/>
          <p:nvPr/>
        </p:nvCxnSpPr>
        <p:spPr>
          <a:xfrm>
            <a:off x="704545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6" name="Connector 125"/>
          <p:cNvCxnSpPr/>
          <p:nvPr/>
        </p:nvCxnSpPr>
        <p:spPr>
          <a:xfrm>
            <a:off x="694486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7" name="TextBox 126"/>
          <p:cNvSpPr txBox="1"/>
          <p:nvPr/>
        </p:nvSpPr>
        <p:spPr>
          <a:xfrm>
            <a:off x="67665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128" name="Oval 127"/>
          <p:cNvSpPr/>
          <p:nvPr/>
        </p:nvSpPr>
        <p:spPr>
          <a:xfrm>
            <a:off x="647395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Isosceles Triangle 128"/>
          <p:cNvSpPr/>
          <p:nvPr/>
        </p:nvSpPr>
        <p:spPr>
          <a:xfrm rot="16200000">
            <a:off x="652881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654710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31" name="Connector 130"/>
          <p:cNvCxnSpPr/>
          <p:nvPr/>
        </p:nvCxnSpPr>
        <p:spPr>
          <a:xfrm>
            <a:off x="667969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>
            <a:off x="657910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3" name="TextBox 132"/>
          <p:cNvSpPr txBox="1"/>
          <p:nvPr/>
        </p:nvSpPr>
        <p:spPr>
          <a:xfrm>
            <a:off x="64008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134" name="Oval 133"/>
          <p:cNvSpPr/>
          <p:nvPr/>
        </p:nvSpPr>
        <p:spPr>
          <a:xfrm>
            <a:off x="610819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 rot="16200000">
            <a:off x="6163055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618134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37" name="Connector 136"/>
          <p:cNvCxnSpPr/>
          <p:nvPr/>
        </p:nvCxnSpPr>
        <p:spPr>
          <a:xfrm>
            <a:off x="6313931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8" name="Connector 137"/>
          <p:cNvCxnSpPr/>
          <p:nvPr/>
        </p:nvCxnSpPr>
        <p:spPr>
          <a:xfrm>
            <a:off x="621334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9" name="TextBox 138"/>
          <p:cNvSpPr txBox="1"/>
          <p:nvPr/>
        </p:nvSpPr>
        <p:spPr>
          <a:xfrm>
            <a:off x="603504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140" name="Oval 139"/>
          <p:cNvSpPr/>
          <p:nvPr/>
        </p:nvSpPr>
        <p:spPr>
          <a:xfrm>
            <a:off x="574243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Isosceles Triangle 140"/>
          <p:cNvSpPr/>
          <p:nvPr/>
        </p:nvSpPr>
        <p:spPr>
          <a:xfrm rot="16200000">
            <a:off x="579729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 flipV="1">
            <a:off x="581558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43" name="Connector 142"/>
          <p:cNvCxnSpPr/>
          <p:nvPr/>
        </p:nvCxnSpPr>
        <p:spPr>
          <a:xfrm>
            <a:off x="594817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44" name="Connector 143"/>
          <p:cNvCxnSpPr/>
          <p:nvPr/>
        </p:nvCxnSpPr>
        <p:spPr>
          <a:xfrm>
            <a:off x="584758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45" name="TextBox 144"/>
          <p:cNvSpPr txBox="1"/>
          <p:nvPr/>
        </p:nvSpPr>
        <p:spPr>
          <a:xfrm>
            <a:off x="566928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146" name="Oval 145"/>
          <p:cNvSpPr/>
          <p:nvPr/>
        </p:nvSpPr>
        <p:spPr>
          <a:xfrm>
            <a:off x="537667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Isosceles Triangle 146"/>
          <p:cNvSpPr/>
          <p:nvPr/>
        </p:nvSpPr>
        <p:spPr>
          <a:xfrm rot="16200000">
            <a:off x="543153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V="1">
            <a:off x="544982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49" name="Connector 148"/>
          <p:cNvCxnSpPr/>
          <p:nvPr/>
        </p:nvCxnSpPr>
        <p:spPr>
          <a:xfrm>
            <a:off x="558241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50" name="Connector 149"/>
          <p:cNvCxnSpPr/>
          <p:nvPr/>
        </p:nvCxnSpPr>
        <p:spPr>
          <a:xfrm>
            <a:off x="548182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51" name="TextBox 150"/>
          <p:cNvSpPr txBox="1"/>
          <p:nvPr/>
        </p:nvSpPr>
        <p:spPr>
          <a:xfrm>
            <a:off x="53035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152" name="Oval 151"/>
          <p:cNvSpPr/>
          <p:nvPr/>
        </p:nvSpPr>
        <p:spPr>
          <a:xfrm>
            <a:off x="501091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Isosceles Triangle 152"/>
          <p:cNvSpPr/>
          <p:nvPr/>
        </p:nvSpPr>
        <p:spPr>
          <a:xfrm rot="16200000">
            <a:off x="506577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508406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55" name="Connector 154"/>
          <p:cNvCxnSpPr/>
          <p:nvPr/>
        </p:nvCxnSpPr>
        <p:spPr>
          <a:xfrm>
            <a:off x="521665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511606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57" name="TextBox 156"/>
          <p:cNvSpPr txBox="1"/>
          <p:nvPr/>
        </p:nvSpPr>
        <p:spPr>
          <a:xfrm>
            <a:off x="49377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158" name="Oval 157"/>
          <p:cNvSpPr/>
          <p:nvPr/>
        </p:nvSpPr>
        <p:spPr>
          <a:xfrm>
            <a:off x="464515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Isosceles Triangle 158"/>
          <p:cNvSpPr/>
          <p:nvPr/>
        </p:nvSpPr>
        <p:spPr>
          <a:xfrm rot="16200000">
            <a:off x="470001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 flipV="1">
            <a:off x="471830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61" name="Connector 160"/>
          <p:cNvCxnSpPr/>
          <p:nvPr/>
        </p:nvCxnSpPr>
        <p:spPr>
          <a:xfrm>
            <a:off x="4850892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62" name="Connector 161"/>
          <p:cNvCxnSpPr/>
          <p:nvPr/>
        </p:nvCxnSpPr>
        <p:spPr>
          <a:xfrm>
            <a:off x="4750308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63" name="TextBox 162"/>
          <p:cNvSpPr txBox="1"/>
          <p:nvPr/>
        </p:nvSpPr>
        <p:spPr>
          <a:xfrm>
            <a:off x="45720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80560" y="117043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1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↑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480560" y="601675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3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↓</a:t>
            </a:r>
          </a:p>
        </p:txBody>
      </p:sp>
      <p:sp>
        <p:nvSpPr>
          <p:cNvPr id="166" name="TextBox 165"/>
          <p:cNvSpPr txBox="1"/>
          <p:nvPr/>
        </p:nvSpPr>
        <p:spPr>
          <a:xfrm rot="16200000">
            <a:off x="6153912" y="3593591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766560" y="4434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FD34D"/>
                </a:solidFill>
                <a:latin typeface="Calibri"/>
              </a:rPr>
              <a:t>light →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302752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10149840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8421624" y="24688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1" name="Connector 170"/>
          <p:cNvCxnSpPr/>
          <p:nvPr/>
        </p:nvCxnSpPr>
        <p:spPr>
          <a:xfrm>
            <a:off x="8421624" y="28346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2" name="Connector 171"/>
          <p:cNvCxnSpPr/>
          <p:nvPr/>
        </p:nvCxnSpPr>
        <p:spPr>
          <a:xfrm>
            <a:off x="8421624" y="32004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8421624" y="356616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8421624" y="393192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5" name="Connector 174"/>
          <p:cNvCxnSpPr/>
          <p:nvPr/>
        </p:nvCxnSpPr>
        <p:spPr>
          <a:xfrm>
            <a:off x="8421624" y="42976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6" name="Connector 175"/>
          <p:cNvCxnSpPr/>
          <p:nvPr/>
        </p:nvCxnSpPr>
        <p:spPr>
          <a:xfrm>
            <a:off x="8421624" y="46634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7" name="Connector 176"/>
          <p:cNvCxnSpPr/>
          <p:nvPr/>
        </p:nvCxnSpPr>
        <p:spPr>
          <a:xfrm>
            <a:off x="8421624" y="50292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78" name="TextBox 177"/>
          <p:cNvSpPr txBox="1"/>
          <p:nvPr/>
        </p:nvSpPr>
        <p:spPr>
          <a:xfrm>
            <a:off x="8421624" y="1773936"/>
            <a:ext cx="1728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FB0C3"/>
                </a:solidFill>
                <a:latin typeface="Calibri"/>
              </a:rPr>
              <a:t>Wire harness (8-way)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0332719" y="2103120"/>
            <a:ext cx="1399032" cy="3291840"/>
          </a:xfrm>
          <a:prstGeom prst="roundRect">
            <a:avLst>
              <a:gd name="adj" fmla="val 8000"/>
            </a:avLst>
          </a:prstGeom>
          <a:solidFill>
            <a:srgbClr val="223246"/>
          </a:solidFill>
          <a:ln w="1587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332719" y="2103120"/>
            <a:ext cx="1399032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L4</a:t>
            </a:r>
          </a:p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Driver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7200" y="155448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31520" y="178308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Layout at a glance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31520" y="2194560"/>
            <a:ext cx="2880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Three DRL PCBs form a C-shaped outline around the lamp opening.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8 LEDs per board; the string runs PCB 1 → PCB 2 → PCB 3.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Flex jumpers bridge both corners — no board-to-board connectors.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Each board's light arrows follow its own orientation: ↑, →, ↓.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31520" y="429768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Legend</a:t>
            </a:r>
          </a:p>
        </p:txBody>
      </p:sp>
      <p:sp>
        <p:nvSpPr>
          <p:cNvPr id="185" name="Oval 184"/>
          <p:cNvSpPr/>
          <p:nvPr/>
        </p:nvSpPr>
        <p:spPr>
          <a:xfrm>
            <a:off x="713231" y="462686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Isosceles Triangle 185"/>
          <p:cNvSpPr/>
          <p:nvPr/>
        </p:nvSpPr>
        <p:spPr>
          <a:xfrm rot="5400000">
            <a:off x="768096" y="480974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>
            <a:off x="950976" y="478231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88" name="Connector 187"/>
          <p:cNvCxnSpPr/>
          <p:nvPr/>
        </p:nvCxnSpPr>
        <p:spPr>
          <a:xfrm flipH="1" flipV="1">
            <a:off x="714935" y="4688003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89" name="Connector 188"/>
          <p:cNvCxnSpPr/>
          <p:nvPr/>
        </p:nvCxnSpPr>
        <p:spPr>
          <a:xfrm flipH="1" flipV="1">
            <a:off x="815519" y="4688003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90" name="TextBox 189"/>
          <p:cNvSpPr txBox="1"/>
          <p:nvPr/>
        </p:nvSpPr>
        <p:spPr>
          <a:xfrm>
            <a:off x="640080" y="499262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/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188719" y="477316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LED + light</a:t>
            </a:r>
          </a:p>
        </p:txBody>
      </p:sp>
      <p:sp>
        <p:nvSpPr>
          <p:cNvPr id="192" name="Arc 191"/>
          <p:cNvSpPr/>
          <p:nvPr/>
        </p:nvSpPr>
        <p:spPr>
          <a:xfrm>
            <a:off x="2377439" y="4818888"/>
            <a:ext cx="365760" cy="3657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2834639" y="477316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Flex jumper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758952" y="5440679"/>
            <a:ext cx="310896" cy="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sp>
        <p:nvSpPr>
          <p:cNvPr id="195" name="TextBox 194"/>
          <p:cNvSpPr txBox="1"/>
          <p:nvPr/>
        </p:nvSpPr>
        <p:spPr>
          <a:xfrm>
            <a:off x="1188719" y="5321807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PCB trace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2359152" y="5440679"/>
            <a:ext cx="31089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97" name="TextBox 196"/>
          <p:cNvSpPr txBox="1"/>
          <p:nvPr/>
        </p:nvSpPr>
        <p:spPr>
          <a:xfrm>
            <a:off x="2834639" y="532180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Harness wire</a:t>
            </a:r>
          </a:p>
        </p:txBody>
      </p:sp>
    </p:spTree>
    <p:extLst>
      <p:ext uri="{BB962C8B-B14F-4D97-AF65-F5344CB8AC3E}">
        <p14:creationId xmlns:p14="http://schemas.microsoft.com/office/powerpoint/2010/main" val="3194128743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Why This PCB Architecture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Design rationale, reliability, and how the layout supports EMI/EMC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Design justification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Modular rigid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Three straight PCBs follow the lamp contour, so panels nest efficiently. The head-lamp pair reuses one outline, which cuts tooling and part count.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Flex jumpers, not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63240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Polyimide flex removes crimps and board-to-board headers. Fewer contacts improve vibration and thermal-cycle reliability (ISO 16750-3) and let the module fold into the housing.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730752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124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Series LED 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05072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Every LED carries the same current, so luminance and colour stay uniform across all three boards. The driver regulates one current, and no ballast resistors are needed.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672584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725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5429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Distributed thermal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946904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24 LEDs spread over three boards keep power density low. Copper pours and thermal vias lower Tj, which protects lumen maintenance and LED life.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468112" cy="41605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1572768"/>
            <a:ext cx="4919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Why EMI / EMC compliance is 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2029967"/>
            <a:ext cx="4919472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Noise source kept off the lamp boards.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The switching L4 driver sits on its own board, so the long DRL PCBs carry only DC LED current and have no high dv/dt nodes to radiate.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Small current loops.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Supply and return run as adjacent pairs in the harness and flex, which minimises loop area and cuts both radiated emissions and pickup.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Solid reference plane.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Each rigid PCB has an unbroken ground pour with stitching vias along its edges, so no return current crosses a slot.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Filtered and dithered driver.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Input π-filter with CM choke, spread-spectrum switching and slew-rate controlled PWM dimming lower peaks in the CISPR 25 AM/FM bands.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Protected entry points.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TVS and 100 nF/1 nF decoupling at each connector absorb ESD and load-dump transients before they reach the LEDs.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509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B0C3"/>
                </a:solidFill>
                <a:latin typeface="Calibri"/>
              </a:rPr>
              <a:t>Target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UN ECE R10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Vehicle EMC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9542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6702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CISPR 25 Cl.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76702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emissions (CE / 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1884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9044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11452-2/-4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044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immunity (ALSE, BCI)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04227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1387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7637-2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1387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Supply-line transients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86569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3729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10605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3729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ESD ±8 kV / ±15 kV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1C8F9A-4AE3-4B81-9643-43ABC275107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a956a96-5478-4293-899b-25d27878256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27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Rosario Jean</dc:creator>
  <cp:lastModifiedBy>Rosario Jean</cp:lastModifiedBy>
  <cp:revision>1</cp:revision>
  <dcterms:created xsi:type="dcterms:W3CDTF">2026-09-30T06:21:23Z</dcterms:created>
  <dcterms:modified xsi:type="dcterms:W3CDTF">2026-09-30T07:08:19Z</dcterms:modified>
</cp:coreProperties>
</file>